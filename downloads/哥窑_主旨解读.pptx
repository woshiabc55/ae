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7987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D99A52"/>
                </a:solidFill>
                <a:latin typeface="Arial"/>
                <a:ea typeface="SimSun"/>
              </a:rPr>
              <a:t>A VISUAL EPIC OF HERITAGE · 视觉史诗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0" b="0">
                <a:solidFill>
                  <a:srgbClr val="F1EBE0"/>
                </a:solidFill>
                <a:latin typeface="SimSun"/>
                <a:ea typeface="SimSun"/>
              </a:rPr>
              <a:t>哥 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E8E0D0"/>
                </a:solidFill>
                <a:latin typeface="SimSun"/>
                <a:ea typeface="SimSun"/>
              </a:rPr>
              <a:t>窑火如歌 · 兄弟如线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669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主旨解读 · 主题演讲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989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D99A52"/>
                </a:solidFill>
                <a:latin typeface="Arial"/>
                <a:ea typeface="SimSun"/>
              </a:rPr>
              <a:t>24 SLIDES · 66 SHOTS · 3 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01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DEDICATION · 致 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5600" b="0">
                <a:solidFill>
                  <a:srgbClr val="D99A52"/>
                </a:solidFill>
                <a:latin typeface="SimSun"/>
                <a:ea typeface="SimSun"/>
              </a:rPr>
              <a:t>致 · 那只按住印的手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0">
                <a:solidFill>
                  <a:srgbClr val="E8E0D0"/>
                </a:solidFill>
                <a:latin typeface="SimSun"/>
                <a:ea typeface="SimSun"/>
              </a:rPr>
              <a:t>非常感谢您的指正。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1">
                <a:solidFill>
                  <a:srgbClr val="D99A52"/>
                </a:solidFill>
                <a:latin typeface="SimSun"/>
                <a:ea typeface="SimSun"/>
              </a:rPr>
              <a:t>这是至关重要的细节。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1EBE0"/>
                </a:solidFill>
                <a:latin typeface="SimSun"/>
                <a:ea typeface="SimSun"/>
              </a:rPr>
              <a:t>"哥哥是张寄，弟弟是张志元。"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—— 主创手记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3961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CONTENTS · 目 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4800" b="0">
                <a:solidFill>
                  <a:srgbClr val="F1EBE0"/>
                </a:solidFill>
                <a:latin typeface="SimSun"/>
                <a:ea typeface="SimSun"/>
              </a:rPr>
              <a:t>本次演讲 · 五篇章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9A52"/>
                </a:solidFill>
                <a:latin typeface="Arial"/>
                <a:ea typeface="SimSun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BE0"/>
                </a:solidFill>
                <a:latin typeface="SimSun"/>
                <a:ea typeface="SimSun"/>
              </a:rPr>
              <a:t>问句：哥窑的"哥"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4572000" cy="635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9A52"/>
                </a:solidFill>
                <a:latin typeface="Arial"/>
                <a:ea typeface="SimSun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BE0"/>
                </a:solidFill>
                <a:latin typeface="SimSun"/>
                <a:ea typeface="SimSun"/>
              </a:rPr>
              <a:t>主旨：传承之歌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337560"/>
            <a:ext cx="4572000" cy="635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9A52"/>
                </a:solidFill>
                <a:latin typeface="Arial"/>
                <a:ea typeface="SimSun"/>
              </a:rPr>
              <a:t>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566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BE0"/>
                </a:solidFill>
                <a:latin typeface="SimSun"/>
                <a:ea typeface="SimSun"/>
              </a:rPr>
              <a:t>人物：两兄弟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566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977640"/>
            <a:ext cx="4572000" cy="635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566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9A52"/>
                </a:solidFill>
                <a:latin typeface="Arial"/>
                <a:ea typeface="SimSun"/>
              </a:rPr>
              <a:t>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BE0"/>
                </a:solidFill>
                <a:latin typeface="SimSun"/>
                <a:ea typeface="SimSun"/>
              </a:rPr>
              <a:t>第一幕：历史回溯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566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977640"/>
            <a:ext cx="4572000" cy="635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9A52"/>
                </a:solidFill>
                <a:latin typeface="Arial"/>
                <a:ea typeface="SimSun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206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BE0"/>
                </a:solidFill>
                <a:latin typeface="SimSun"/>
                <a:ea typeface="SimSun"/>
              </a:rPr>
              <a:t>第二幕：贡品之印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206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617720"/>
            <a:ext cx="4572000" cy="635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206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9A52"/>
                </a:solidFill>
                <a:latin typeface="Arial"/>
                <a:ea typeface="SimSun"/>
              </a:rPr>
              <a:t>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062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BE0"/>
                </a:solidFill>
                <a:latin typeface="SimSun"/>
                <a:ea typeface="SimSun"/>
              </a:rPr>
              <a:t>第三幕：窑火成瓷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206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19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4617720"/>
            <a:ext cx="4572000" cy="635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463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9A52"/>
                </a:solidFill>
                <a:latin typeface="Arial"/>
                <a:ea typeface="SimSun"/>
              </a:rPr>
              <a:t>VII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8463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BE0"/>
                </a:solidFill>
                <a:latin typeface="SimSun"/>
                <a:ea typeface="SimSun"/>
              </a:rPr>
              <a:t>升华：持守与开创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8463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22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257799"/>
            <a:ext cx="4572000" cy="635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48463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9A52"/>
                </a:solidFill>
                <a:latin typeface="Arial"/>
                <a:ea typeface="SimSun"/>
              </a:rPr>
              <a:t>VIII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846319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BE0"/>
                </a:solidFill>
                <a:latin typeface="SimSun"/>
                <a:ea typeface="SimSun"/>
              </a:rPr>
              <a:t>致敬：片尾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84631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24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5257799"/>
            <a:ext cx="4572000" cy="635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PROLOGUE · 序章 · 镜号 1–5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8A8275"/>
                </a:solidFill>
                <a:latin typeface="SimSun"/>
                <a:ea typeface="SimSun"/>
              </a:rPr>
              <a:t>黑场 · 特写 · 中景 · 大特写 · 黑场字幕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0">
                <a:solidFill>
                  <a:srgbClr val="F1EBE0"/>
                </a:solidFill>
                <a:latin typeface="SimSun"/>
                <a:ea typeface="SimSun"/>
              </a:rPr>
              <a:t>"哥窑的'哥', 是谁？"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8A8275"/>
                </a:solidFill>
                <a:latin typeface="SimSun"/>
                <a:ea typeface="SimSun"/>
              </a:rPr>
              <a:t>—— 镜号 5 · 黑场字幕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39936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THE FRAGMENT · 碎瓷之问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>
                <a:solidFill>
                  <a:srgbClr val="F1EBE0"/>
                </a:solidFill>
                <a:latin typeface="SimSun"/>
                <a:ea typeface="SimSun"/>
              </a:rPr>
              <a:t>缺了一块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E8E0D0"/>
                </a:solidFill>
                <a:latin typeface="SimSun"/>
                <a:ea typeface="SimSun"/>
              </a:rPr>
              <a:t>老匠人独坐桌前，看着瓷器，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1">
                <a:solidFill>
                  <a:srgbClr val="D99A52"/>
                </a:solidFill>
                <a:latin typeface="SimSun"/>
                <a:ea typeface="SimSun"/>
              </a:rPr>
              <a:t>手滑险些掉落。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E8E0D0"/>
                </a:solidFill>
                <a:latin typeface="SimSun"/>
                <a:ea typeface="SimSun"/>
              </a:rPr>
              <a:t>镜头另一端，角色在教育局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E8E0D0"/>
                </a:solidFill>
                <a:latin typeface="SimSun"/>
                <a:ea typeface="SimSun"/>
              </a:rPr>
              <a:t>申请教师资格和项目上报。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800" b="0">
                <a:solidFill>
                  <a:srgbClr val="F1EBE0"/>
                </a:solidFill>
                <a:latin typeface="SimSun"/>
                <a:ea typeface="SimSun"/>
              </a:rPr>
              <a:t/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1">
                <a:solidFill>
                  <a:srgbClr val="D99A52"/>
                </a:solidFill>
                <a:latin typeface="SimSun"/>
                <a:ea typeface="SimSun"/>
              </a:rPr>
              <a:t>碎瓷底款——"章生"二字。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828800"/>
            <a:ext cx="3200400" cy="3200400"/>
          </a:xfrm>
          <a:prstGeom prst="rect">
            <a:avLst/>
          </a:prstGeom>
          <a:solidFill>
            <a:srgbClr val="2F5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7432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0" b="0">
                <a:solidFill>
                  <a:srgbClr val="B58A4A"/>
                </a:solidFill>
                <a:latin typeface="SimSun"/>
                <a:ea typeface="SimSun"/>
              </a:rPr>
              <a:t>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8A8275"/>
                </a:solidFill>
                <a:latin typeface="SimSun"/>
                <a:ea typeface="SimSun"/>
              </a:rPr>
              <a:t>碎瓷底款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CORE THESIS · 主旨总纲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5600" b="0">
                <a:solidFill>
                  <a:srgbClr val="F1EBE0"/>
                </a:solidFill>
                <a:latin typeface="SimSun"/>
                <a:ea typeface="SimSun"/>
              </a:rPr>
              <a:t>一首关于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5600" b="1">
                <a:solidFill>
                  <a:srgbClr val="D99A52"/>
                </a:solidFill>
                <a:latin typeface="SimSun"/>
                <a:ea typeface="SimSun"/>
              </a:rPr>
              <a:t>「传承」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5600" b="0">
                <a:solidFill>
                  <a:srgbClr val="F1EBE0"/>
                </a:solidFill>
                <a:latin typeface="SimSun"/>
                <a:ea typeface="SimSun"/>
              </a:rPr>
              <a:t>的视觉史诗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38100" cy="18288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800" b="0">
                <a:solidFill>
                  <a:srgbClr val="F1EBE0"/>
                </a:solidFill>
                <a:latin typeface="SimSun"/>
                <a:ea typeface="SimSun"/>
              </a:rPr>
              <a:t>"哥"通"歌"——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800" b="1">
                <a:solidFill>
                  <a:srgbClr val="D99A52"/>
                </a:solidFill>
                <a:latin typeface="SimSun"/>
                <a:ea typeface="SimSun"/>
              </a:rPr>
              <a:t>窑火如歌，兄弟如线。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555911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REVISION · 关键修正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F1EBE0"/>
                </a:solidFill>
                <a:latin typeface="SimSun"/>
                <a:ea typeface="SimSun"/>
              </a:rPr>
              <a:t>人物关系的最终设定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SimSun"/>
                <a:ea typeface="SimSun"/>
              </a:rPr>
              <a:t>角色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9260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SimSun"/>
                <a:ea typeface="SimSun"/>
              </a:rPr>
              <a:t>正确设定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926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SimSun"/>
                <a:ea typeface="SimSun"/>
              </a:rPr>
              <a:t>核心特质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926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SimSun"/>
                <a:ea typeface="SimSun"/>
              </a:rPr>
              <a:t>视觉象征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37560"/>
            <a:ext cx="1051560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A8C4B8"/>
                </a:solidFill>
                <a:latin typeface="SimSun"/>
                <a:ea typeface="SimSun"/>
              </a:rPr>
              <a:t>哥哥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657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BE0"/>
                </a:solidFill>
                <a:latin typeface="SimSun"/>
                <a:ea typeface="SimSun"/>
              </a:rPr>
              <a:t>张寄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657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BE0"/>
                </a:solidFill>
                <a:latin typeface="SimSun"/>
                <a:ea typeface="SimSun"/>
              </a:rPr>
              <a:t>守护者 · 理性 · 承担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657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BE0"/>
                </a:solidFill>
                <a:latin typeface="SimSun"/>
                <a:ea typeface="SimSun"/>
              </a:rPr>
              <a:t>持灯者 · 锚点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69080"/>
            <a:ext cx="10515600" cy="6350"/>
          </a:xfrm>
          <a:prstGeom prst="rect">
            <a:avLst/>
          </a:prstGeom>
          <a:solidFill>
            <a:srgbClr val="8A82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99A52"/>
                </a:solidFill>
                <a:latin typeface="SimSun"/>
                <a:ea typeface="SimSun"/>
              </a:rPr>
              <a:t>弟弟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389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BE0"/>
                </a:solidFill>
                <a:latin typeface="SimSun"/>
                <a:ea typeface="SimSun"/>
              </a:rPr>
              <a:t>张志元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389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BE0"/>
                </a:solidFill>
                <a:latin typeface="SimSun"/>
                <a:ea typeface="SimSun"/>
              </a:rPr>
              <a:t>探索者 · 感性 · 天赋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3891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EBE0"/>
                </a:solidFill>
                <a:latin typeface="SimSun"/>
                <a:ea typeface="SimSun"/>
              </a:rPr>
              <a:t>行路人 · 延伸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00600"/>
            <a:ext cx="10515600" cy="6350"/>
          </a:xfrm>
          <a:prstGeom prst="rect">
            <a:avLst/>
          </a:prstGeom>
          <a:solidFill>
            <a:srgbClr val="8A82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CONTRAST · 人物对照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F1EBE0"/>
                </a:solidFill>
                <a:latin typeface="SimSun"/>
                <a:ea typeface="SimSun"/>
              </a:rPr>
              <a:t>哥哥 vs 弟弟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5029200" cy="3474720"/>
          </a:xfrm>
          <a:prstGeom prst="rect">
            <a:avLst/>
          </a:prstGeom>
          <a:solidFill>
            <a:srgbClr val="1A1814"/>
          </a:solidFill>
          <a:ln w="6350">
            <a:solidFill>
              <a:srgbClr val="7EA8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1EBE0"/>
                </a:solidFill>
                <a:latin typeface="SimSun"/>
                <a:ea typeface="SimSun"/>
              </a:rPr>
              <a:t>张寄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THE ELDER · 哥哥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· 持灯者 · 守护者 · 锚点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· 理性 · 冷静 · 规划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· 用树枝画出窑体轮廓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· 火候失控时拉住弟弟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D99A52"/>
                </a:solidFill>
                <a:latin typeface="SimSun"/>
                <a:ea typeface="SimSun"/>
              </a:rPr>
              <a:t>· 把弟弟的手按在印上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743200"/>
            <a:ext cx="5029200" cy="3474720"/>
          </a:xfrm>
          <a:prstGeom prst="rect">
            <a:avLst/>
          </a:prstGeom>
          <a:solidFill>
            <a:srgbClr val="1A1814"/>
          </a:solidFill>
          <a:ln w="6350">
            <a:solidFill>
              <a:srgbClr val="D9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9260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1EBE0"/>
                </a:solidFill>
                <a:latin typeface="SimSun"/>
                <a:ea typeface="SimSun"/>
              </a:rPr>
              <a:t>张志元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474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THE YOUNGER · 弟弟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9319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· 行路人 · 探索者 · 延伸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· 感性 · 敏锐 · 天赋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D99A52"/>
                </a:solidFill>
                <a:latin typeface="SimSun"/>
                <a:ea typeface="SimSun"/>
              </a:rPr>
              <a:t>· 听见"土在唱歌"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· 听出"火太急了"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· 开窑时泪与释然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114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8A8275"/>
                </a:solidFill>
                <a:latin typeface="Arial"/>
                <a:ea typeface="SimSun"/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1885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MOMENTS · 哥哥关键时刻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1EBE0"/>
                </a:solidFill>
                <a:latin typeface="SimSun"/>
                <a:ea typeface="SimSun"/>
              </a:rPr>
              <a:t>张寄 / 张志元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A8C4B8"/>
                </a:solidFill>
                <a:latin typeface="SimSun"/>
                <a:ea typeface="SimSun"/>
              </a:rPr>
              <a:t>张寄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9  · 接过嘱托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17 · 肯定 · "那就这儿了"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23 · 默契 · 递来一块布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53 · 拉住 · "等！"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99A52"/>
                </a:solidFill>
                <a:latin typeface="SimSun"/>
                <a:ea typeface="SimSun"/>
              </a:rPr>
              <a:t>张志元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0175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16 · 听土 · "在唱歌"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29 · 听火 · "火着了"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51 · 听危 · "太急了"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57 · 听成 · "成了"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275"/>
                </a:solidFill>
                <a:latin typeface="SimSun"/>
                <a:ea typeface="SimSun"/>
              </a:rPr>
              <a:t>哥哥 · 四个"守"的瞬间 / 弟弟 · 四个"听"的瞬间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79872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MOMENTS · 弟弟关键时刻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1EBE0"/>
                </a:solidFill>
                <a:latin typeface="SimSun"/>
                <a:ea typeface="SimSun"/>
              </a:rPr>
              <a:t>张寄 / 张志元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A8C4B8"/>
                </a:solidFill>
                <a:latin typeface="SimSun"/>
                <a:ea typeface="SimSun"/>
              </a:rPr>
              <a:t>张寄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9  · 接过嘱托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17 · 肯定 · "那就这儿了"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23 · 默契 · 递来一块布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53 · 拉住 · "等！"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99A52"/>
                </a:solidFill>
                <a:latin typeface="SimSun"/>
                <a:ea typeface="SimSun"/>
              </a:rPr>
              <a:t>张志元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01752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16 · 听土 · "在唱歌"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29 · 听火 · "火着了"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51 · 听危 · "太急了"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E8E0D0"/>
                </a:solidFill>
                <a:latin typeface="SimSun"/>
                <a:ea typeface="SimSun"/>
              </a:rPr>
              <a:t>镜号 57 · 听成 · "成了"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275"/>
                </a:solidFill>
                <a:latin typeface="SimSun"/>
                <a:ea typeface="SimSun"/>
              </a:rPr>
              <a:t>持守者 × 探索者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587860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STRUCTURE · 三幕结构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1EBE0"/>
                </a:solidFill>
                <a:latin typeface="SimSun"/>
                <a:ea typeface="SimSun"/>
              </a:rPr>
              <a:t>三幕 · 一次"歌"的成形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3383280" cy="3200400"/>
          </a:xfrm>
          <a:prstGeom prst="rect">
            <a:avLst/>
          </a:prstGeom>
          <a:solidFill>
            <a:srgbClr val="1A1814"/>
          </a:solidFill>
          <a:ln w="6350">
            <a:solidFill>
              <a:srgbClr val="D9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A8C4B8"/>
                </a:solidFill>
                <a:latin typeface="Arial"/>
                <a:ea typeface="SimSun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1EBE0"/>
                </a:solidFill>
                <a:latin typeface="SimSun"/>
                <a:ea typeface="SimSun"/>
              </a:rPr>
              <a:t>历史回溯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镜号 6–35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寻土 · 起窑 · 第一把火
未开片 · 兄弟奠基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560320"/>
            <a:ext cx="3383280" cy="3200400"/>
          </a:xfrm>
          <a:prstGeom prst="rect">
            <a:avLst/>
          </a:prstGeom>
          <a:solidFill>
            <a:srgbClr val="1A1814"/>
          </a:solidFill>
          <a:ln w="6350">
            <a:solidFill>
              <a:srgbClr val="D9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D99A52"/>
                </a:solidFill>
                <a:latin typeface="Arial"/>
                <a:ea typeface="SimSun"/>
              </a:rPr>
              <a:t>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931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1EBE0"/>
                </a:solidFill>
                <a:latin typeface="SimSun"/>
                <a:ea typeface="SimSun"/>
              </a:rPr>
              <a:t>贡品之印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389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镜号 36–47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75488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朝廷查验 · 天工之赐
兄弟之印 · 全片高潮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560320"/>
            <a:ext cx="3383280" cy="3200400"/>
          </a:xfrm>
          <a:prstGeom prst="rect">
            <a:avLst/>
          </a:prstGeom>
          <a:solidFill>
            <a:srgbClr val="1A1814"/>
          </a:solidFill>
          <a:ln w="6350">
            <a:solidFill>
              <a:srgbClr val="D9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1EBE0"/>
                </a:solidFill>
                <a:latin typeface="Arial"/>
                <a:ea typeface="SimSun"/>
              </a:rPr>
              <a:t>III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31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1EBE0"/>
                </a:solidFill>
                <a:latin typeface="SimSun"/>
                <a:ea typeface="SimSun"/>
              </a:rPr>
              <a:t>窑火成瓷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389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275"/>
                </a:solidFill>
                <a:latin typeface="Arial"/>
                <a:ea typeface="SimSun"/>
              </a:rPr>
              <a:t>镜号 48–66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75488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火候失控 · 金丝铁线
两个背影 · 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ACT ONE · 第一幕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99A52"/>
                </a:solidFill>
                <a:latin typeface="Arial"/>
                <a:ea typeface="SimSun"/>
              </a:rPr>
              <a:t>ACT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1EBE0"/>
                </a:solidFill>
                <a:latin typeface="SimSun"/>
                <a:ea typeface="SimSun"/>
              </a:rPr>
              <a:t>北方窑火 · 南下寻土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战马、烽火、流民。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父亲的嘱托把两个包袱塞入兄弟手中——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一个是瓷土，一个是家谱。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38100" cy="13716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1EBE0"/>
                </a:solidFill>
                <a:latin typeface="SimSun"/>
                <a:ea typeface="SimSun"/>
              </a:rPr>
              <a:t>"往南走，找能烧窑的土地，不能丢。
手艺不能断。志元，看好你弟弟。"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275"/>
                </a:solidFill>
                <a:latin typeface="SimSun"/>
                <a:ea typeface="SimSun"/>
              </a:rPr>
              <a:t>—— 镜号 9 · 父亲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603834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FIRST ACT · 寻土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99A52"/>
                </a:solidFill>
                <a:latin typeface="Arial"/>
                <a:ea typeface="SimSun"/>
              </a:rPr>
              <a:t>ACT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1EBE0"/>
                </a:solidFill>
                <a:latin typeface="SimSun"/>
                <a:ea typeface="SimSun"/>
              </a:rPr>
              <a:t>紫金土 · 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丽水群山，晨雾中土质泛红。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弟弟突然蹲下，抓起一把土，眼神发亮。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哥哥笑了——那笑容里有欣慰，有骄傲。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38100" cy="13716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1EBE0"/>
                </a:solidFill>
                <a:latin typeface="SimSun"/>
                <a:ea typeface="SimSun"/>
              </a:rPr>
              <a:t>"哥，这土……在唱歌。"
"那就这儿了。"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275"/>
                </a:solidFill>
                <a:latin typeface="SimSun"/>
                <a:ea typeface="SimSun"/>
              </a:rPr>
              <a:t>—— 镜号 16/17 · 兄弟二人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111822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FIRST ACT · 起窑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99A52"/>
                </a:solidFill>
                <a:latin typeface="Arial"/>
                <a:ea typeface="SimSun"/>
              </a:rPr>
              <a:t>ACT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1EBE0"/>
                </a:solidFill>
                <a:latin typeface="SimSun"/>
                <a:ea typeface="SimSun"/>
              </a:rPr>
              <a:t>龙窑依山 · 兄弟夯土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镜号 19 · 树枝画出窑体轮廓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镜号 21 · 并肩夯土，默契如一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镜号 23 · 哥哥默默递来一块布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镜号 25 · 向山民拱手承诺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38100" cy="13716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1EBE0"/>
                </a:solidFill>
                <a:latin typeface="SimSun"/>
                <a:ea typeface="SimSun"/>
              </a:rPr>
              <a:t>"龙窑要依山而建，火才能顺着山势往上走。"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275"/>
                </a:solidFill>
                <a:latin typeface="SimSun"/>
                <a:ea typeface="SimSun"/>
              </a:rPr>
              <a:t>—— 镜号 19 · 张寄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19809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FIRST ACT · 未开片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459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0">
                <a:solidFill>
                  <a:srgbClr val="F1EBE0"/>
                </a:solidFill>
                <a:latin typeface="SimSun"/>
                <a:ea typeface="SimSun"/>
              </a:rPr>
              <a:t>第一窑 · 未开片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E8E0D0"/>
                </a:solidFill>
                <a:latin typeface="SimSun"/>
                <a:ea typeface="SimSun"/>
              </a:rPr>
              <a:t>烟散，第一件青瓷出窑——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1">
                <a:solidFill>
                  <a:srgbClr val="D99A52"/>
                </a:solidFill>
                <a:latin typeface="SimSun"/>
                <a:ea typeface="SimSun"/>
              </a:rPr>
              <a:t>釉色如玉，却未开片。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F1EBE0"/>
                </a:solidFill>
                <a:latin typeface="SimSun"/>
                <a:ea typeface="SimSun"/>
              </a:rPr>
              <a:t>真正的杰作，永远不是一次成型的。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1206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它是"守"与"走"的反复，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是失败与重来的合唱。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ACT TWO · 第二幕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99A52"/>
                </a:solidFill>
                <a:latin typeface="Arial"/>
                <a:ea typeface="SimSun"/>
              </a:rPr>
              <a:t>ACT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1EBE0"/>
                </a:solidFill>
                <a:latin typeface="SimSun"/>
                <a:ea typeface="SimSun"/>
              </a:rPr>
              <a:t>朝廷查验 · 天工之赐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几匹快马驰入山谷，官府旗帜飘扬。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一位官员下马——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朝廷有令，龙泉青瓷可贡于临安。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38100" cy="13716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1EBE0"/>
                </a:solidFill>
                <a:latin typeface="SimSun"/>
                <a:ea typeface="SimSun"/>
              </a:rPr>
              <a:t>"这纹路……如冰裂，却浑然天成？"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275"/>
                </a:solidFill>
                <a:latin typeface="SimSun"/>
                <a:ea typeface="SimSun"/>
              </a:rPr>
              <a:t>—— 镜号 40 · 官员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635783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SECOND ACT · 兄弟之印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F1EBE0"/>
                </a:solidFill>
                <a:latin typeface="SimSun"/>
                <a:ea typeface="SimSun"/>
              </a:rPr>
              <a:t>两双手 · 一方印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38100" cy="22860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0">
                <a:solidFill>
                  <a:srgbClr val="F1EBE0"/>
                </a:solidFill>
                <a:latin typeface="SimSun"/>
                <a:ea typeface="SimSun"/>
              </a:rPr>
              <a:t>张志元将印递给弟弟，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0">
                <a:solidFill>
                  <a:srgbClr val="F1EBE0"/>
                </a:solidFill>
                <a:latin typeface="SimSun"/>
                <a:ea typeface="SimSun"/>
              </a:rPr>
              <a:t>张寄却摇头，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1">
                <a:solidFill>
                  <a:srgbClr val="D99A52"/>
                </a:solidFill>
                <a:latin typeface="SimSun"/>
                <a:ea typeface="SimSun"/>
              </a:rPr>
              <a:t>把哥哥的手一起按在印上。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1">
                <a:solidFill>
                  <a:srgbClr val="D99A52"/>
                </a:solidFill>
                <a:latin typeface="SimSun"/>
                <a:ea typeface="SimSun"/>
              </a:rPr>
              <a:t>"哥，没有你这盏灯，我哪能坚持学业……"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solidFill>
                  <a:srgbClr val="8A8275"/>
                </a:solidFill>
                <a:latin typeface="SimSun"/>
                <a:ea typeface="SimSun"/>
              </a:rPr>
              <a:t>—— 镜号 45 · 反向的致敬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771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EVIDENCE · 贡品之印证据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1EBE0"/>
                </a:solidFill>
                <a:latin typeface="SimSun"/>
                <a:ea typeface="SimSun"/>
              </a:rPr>
              <a:t>"无意之得 · 方为天工"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SimSun"/>
                <a:ea typeface="SimSun"/>
              </a:rPr>
              <a:t>镜号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468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官员眼中闪过惊讶，手指抚过釉面细纹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468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细纹被发现 · 美的觉醒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10972800" cy="6350"/>
          </a:xfrm>
          <a:prstGeom prst="rect">
            <a:avLst/>
          </a:prstGeom>
          <a:solidFill>
            <a:srgbClr val="8A82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SimSun"/>
                <a:ea typeface="SimSun"/>
              </a:rPr>
              <a:t>镜号 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张志元微颤答：是火候所致，非有意为之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弟弟的谦逊 · 天赋不可强求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10972800" cy="6350"/>
          </a:xfrm>
          <a:prstGeom prst="rect">
            <a:avLst/>
          </a:prstGeom>
          <a:solidFill>
            <a:srgbClr val="8A82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SimSun"/>
                <a:ea typeface="SimSun"/>
              </a:rPr>
              <a:t>镜号 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474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官员笑了，取出一方印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474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朝廷认可 · 窑火登堂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10972800" cy="6350"/>
          </a:xfrm>
          <a:prstGeom prst="rect">
            <a:avLst/>
          </a:prstGeom>
          <a:solidFill>
            <a:srgbClr val="8A82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77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SimSun"/>
                <a:ea typeface="SimSun"/>
              </a:rPr>
              <a:t>镜号 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3977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印文"龙泉章氏"盖下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977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姓氏之传 · 章氏之根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343400"/>
            <a:ext cx="10972800" cy="6350"/>
          </a:xfrm>
          <a:prstGeom prst="rect">
            <a:avLst/>
          </a:prstGeom>
          <a:solidFill>
            <a:srgbClr val="8A82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SimSun"/>
                <a:ea typeface="SimSun"/>
              </a:rPr>
              <a:t>镜号 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480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弟弟把哥哥的手按在印上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480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⭐ 兄的谦让 · 二人的重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46320"/>
            <a:ext cx="10972800" cy="6350"/>
          </a:xfrm>
          <a:prstGeom prst="rect">
            <a:avLst/>
          </a:prstGeom>
          <a:solidFill>
            <a:srgbClr val="8A82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83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SimSun"/>
                <a:ea typeface="SimSun"/>
              </a:rPr>
              <a:t>镜号 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983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龙窑炊烟升起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983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0D0"/>
                </a:solidFill>
                <a:latin typeface="SimSun"/>
                <a:ea typeface="SimSun"/>
              </a:rPr>
              <a:t>生机 · 传承的起点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349240"/>
            <a:ext cx="10972800" cy="6350"/>
          </a:xfrm>
          <a:prstGeom prst="rect">
            <a:avLst/>
          </a:prstGeom>
          <a:solidFill>
            <a:srgbClr val="8A82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51758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ACT THREE · 第三幕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99A52"/>
                </a:solidFill>
                <a:latin typeface="Arial"/>
                <a:ea typeface="SimSun"/>
              </a:rPr>
              <a:t>ACT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1EBE0"/>
                </a:solidFill>
                <a:latin typeface="SimSun"/>
                <a:ea typeface="SimSun"/>
              </a:rPr>
              <a:t>火候失控 · 金丝铁线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张志元彻夜未眠，耳朵贴近窑壁——声音不对。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窑火突然转旺，窑孔中喷出金色火焰。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弟弟的疯狂遇上了哥哥的理性。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38100" cy="13716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1EBE0"/>
                </a:solidFill>
                <a:latin typeface="SimSun"/>
                <a:ea typeface="SimSun"/>
              </a:rPr>
              <a:t>"哥，火……太急了。"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275"/>
                </a:solidFill>
                <a:latin typeface="SimSun"/>
                <a:ea typeface="SimSun"/>
              </a:rPr>
              <a:t>—— 镜号 51 · 张志元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5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THIRD ACT · 如一人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>
                <a:solidFill>
                  <a:srgbClr val="F1EBE0"/>
                </a:solidFill>
                <a:latin typeface="SimSun"/>
                <a:ea typeface="SimSun"/>
              </a:rPr>
              <a:t>一人 · 一影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6400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0">
                <a:solidFill>
                  <a:srgbClr val="E8E0D0"/>
                </a:solidFill>
                <a:latin typeface="SimSun"/>
                <a:ea typeface="SimSun"/>
              </a:rPr>
              <a:t>兄弟二人并肩站在窑前，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1">
                <a:solidFill>
                  <a:srgbClr val="D99A52"/>
                </a:solidFill>
                <a:latin typeface="SimSun"/>
                <a:ea typeface="SimSun"/>
              </a:rPr>
              <a:t>火光将他们的影子投在山壁上，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1">
                <a:solidFill>
                  <a:srgbClr val="D99A52"/>
                </a:solidFill>
                <a:latin typeface="SimSun"/>
                <a:ea typeface="SimSun"/>
              </a:rPr>
              <a:t>如一人。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800" b="0">
                <a:solidFill>
                  <a:srgbClr val="F1EBE0"/>
                </a:solidFill>
                <a:latin typeface="SimSun"/>
                <a:ea typeface="SimSun"/>
              </a:rPr>
              <a:t/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窑火声、心跳声、呼吸声——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E8E0D0"/>
                </a:solidFill>
                <a:latin typeface="SimSun"/>
                <a:ea typeface="SimSun"/>
              </a:rPr>
              <a:t>三个声音叠在一起，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600" b="1">
                <a:solidFill>
                  <a:srgbClr val="D99A52"/>
                </a:solidFill>
                <a:latin typeface="SimSun"/>
                <a:ea typeface="SimSun"/>
              </a:rPr>
              <a:t>就是哥窑之"歌"。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286000"/>
            <a:ext cx="1828800" cy="36576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2468880"/>
            <a:ext cx="1280160" cy="2286000"/>
          </a:xfrm>
          <a:prstGeom prst="rect">
            <a:avLst/>
          </a:prstGeom>
          <a:solidFill>
            <a:srgbClr val="F4A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2743200"/>
            <a:ext cx="914400" cy="18288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5943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8275"/>
                </a:solidFill>
                <a:latin typeface="SimSun"/>
                <a:ea typeface="SimSun"/>
              </a:rPr>
              <a:t>如一人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667733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THIRD ACT · 金丝铁线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0">
                <a:solidFill>
                  <a:srgbClr val="D99A52"/>
                </a:solidFill>
                <a:latin typeface="SimSun"/>
                <a:ea typeface="SimSun"/>
              </a:rPr>
              <a:t>金丝 · 铁线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560320"/>
            <a:ext cx="6858000" cy="2286000"/>
          </a:xfrm>
          <a:prstGeom prst="rect">
            <a:avLst/>
          </a:prstGeom>
          <a:solidFill>
            <a:srgbClr val="7E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3200400" y="2743200"/>
            <a:ext cx="1371600" cy="457200"/>
          </a:xfrm>
          <a:prstGeom prst="line">
            <a:avLst/>
          </a:prstGeom>
          <a:ln w="19050">
            <a:solidFill>
              <a:srgbClr val="B58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572000" y="2926080"/>
            <a:ext cx="1371600" cy="274320"/>
          </a:xfrm>
          <a:prstGeom prst="line">
            <a:avLst/>
          </a:prstGeom>
          <a:ln w="19050">
            <a:solidFill>
              <a:srgbClr val="B58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943600" y="2926080"/>
            <a:ext cx="914400" cy="914400"/>
          </a:xfrm>
          <a:prstGeom prst="line">
            <a:avLst/>
          </a:prstGeom>
          <a:ln w="19050">
            <a:solidFill>
              <a:srgbClr val="B58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7600" y="3657600"/>
            <a:ext cx="1828800" cy="457200"/>
          </a:xfrm>
          <a:prstGeom prst="line">
            <a:avLst/>
          </a:prstGeom>
          <a:ln w="19050">
            <a:solidFill>
              <a:srgbClr val="B58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486400" y="3931920"/>
            <a:ext cx="1371600" cy="182880"/>
          </a:xfrm>
          <a:prstGeom prst="line">
            <a:avLst/>
          </a:prstGeom>
          <a:ln w="19050">
            <a:solidFill>
              <a:srgbClr val="B58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0" y="4389120"/>
            <a:ext cx="1828800" cy="182880"/>
          </a:xfrm>
          <a:prstGeom prst="line">
            <a:avLst/>
          </a:prstGeom>
          <a:ln w="19050">
            <a:solidFill>
              <a:srgbClr val="B58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43200" y="50292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8275"/>
                </a:solidFill>
                <a:latin typeface="SimSun"/>
                <a:ea typeface="SimSun"/>
              </a:rPr>
              <a:t>金丝铁线 · 釉面开片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1">
                <a:solidFill>
                  <a:srgbClr val="D99A52"/>
                </a:solidFill>
                <a:latin typeface="SimSun"/>
                <a:ea typeface="SimSun"/>
              </a:rPr>
              <a:t>"哥……成了。"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000" b="0">
                <a:solidFill>
                  <a:srgbClr val="8A8275"/>
                </a:solidFill>
                <a:latin typeface="SimSun"/>
                <a:ea typeface="SimSun"/>
              </a:rPr>
              <a:t>—— 镜号 57 · 张志元 · 颤抖的手抚过瓷片，眼泪滑落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75720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RESOLUTION · 主旨升华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800" b="0">
                <a:solidFill>
                  <a:srgbClr val="F1EBE0"/>
                </a:solidFill>
                <a:latin typeface="SimSun"/>
                <a:ea typeface="SimSun"/>
              </a:rPr>
              <a:t>"哥窑"的"哥"，是"歌"，也是"兄"。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400" b="0">
                <a:solidFill>
                  <a:srgbClr val="F1EBE0"/>
                </a:solidFill>
                <a:latin typeface="SimSun"/>
                <a:ea typeface="SimSun"/>
              </a:rPr>
              <a:t>哥哥张寄，就是那首"歌"的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800" b="1">
                <a:solidFill>
                  <a:srgbClr val="D99A52"/>
                </a:solidFill>
                <a:latin typeface="SimSun"/>
                <a:ea typeface="SimSun"/>
              </a:rPr>
              <a:t>定音鼓和节拍器。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389120"/>
            <a:ext cx="38100" cy="1371600"/>
          </a:xfrm>
          <a:prstGeom prst="rect">
            <a:avLst/>
          </a:prstGeom>
          <a:solidFill>
            <a:srgbClr val="7E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1">
                <a:solidFill>
                  <a:srgbClr val="A8C4B8"/>
                </a:solidFill>
                <a:latin typeface="SimSun"/>
                <a:ea typeface="SimSun"/>
              </a:rPr>
              <a:t>哥哥 · 张寄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E8E0D0"/>
                </a:solidFill>
                <a:latin typeface="SimSun"/>
                <a:ea typeface="SimSun"/>
              </a:rPr>
              <a:t>持守 · 理性 · 守护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4389120"/>
            <a:ext cx="38100" cy="13716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438912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1">
                <a:solidFill>
                  <a:srgbClr val="D99A52"/>
                </a:solidFill>
                <a:latin typeface="SimSun"/>
                <a:ea typeface="SimSun"/>
              </a:rPr>
              <a:t>弟弟 · 张志元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E8E0D0"/>
                </a:solidFill>
                <a:latin typeface="SimSun"/>
                <a:ea typeface="SimSun"/>
              </a:rPr>
              <a:t>开创 · 感性 · 探索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F1EBE0"/>
                </a:solidFill>
                <a:latin typeface="SimSun"/>
                <a:ea typeface="SimSun"/>
              </a:rPr>
              <a:t>哥窑之美，正在于持守与开创的完美和弦。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83707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THE FINAL SENTENCE · 主题字幕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200" b="0">
                <a:solidFill>
                  <a:srgbClr val="F1EBE0"/>
                </a:solidFill>
                <a:latin typeface="SimSun"/>
                <a:ea typeface="SimSun"/>
              </a:rPr>
              <a:t>哥窑之"哥"，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200" b="0">
                <a:solidFill>
                  <a:srgbClr val="F1EBE0"/>
                </a:solidFill>
                <a:latin typeface="SimSun"/>
                <a:ea typeface="SimSun"/>
              </a:rPr>
              <a:t>非长幼之序，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200" b="1">
                <a:solidFill>
                  <a:srgbClr val="D99A52"/>
                </a:solidFill>
                <a:latin typeface="SimSun"/>
                <a:ea typeface="SimSun"/>
              </a:rPr>
              <a:t>乃"歌"之古字——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200" b="0">
                <a:solidFill>
                  <a:srgbClr val="F1EBE0"/>
                </a:solidFill>
                <a:latin typeface="SimSun"/>
                <a:ea typeface="SimSun"/>
              </a:rPr>
              <a:t>窑火如歌，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200" b="1">
                <a:solidFill>
                  <a:srgbClr val="D99A52"/>
                </a:solidFill>
                <a:latin typeface="SimSun"/>
                <a:ea typeface="SimSun"/>
              </a:rPr>
              <a:t>兄弟如线。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8A8275"/>
                </a:solidFill>
                <a:latin typeface="SimSun"/>
                <a:ea typeface="SimSun"/>
              </a:rPr>
              <a:t>—— 镜号 64 · 黑场字幕 · 古琴最后一个音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1A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4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21792"/>
            <a:ext cx="548640" cy="12700"/>
          </a:xfrm>
          <a:prstGeom prst="rect">
            <a:avLst/>
          </a:prstGeom>
          <a:solidFill>
            <a:srgbClr val="D99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D99A52"/>
                </a:solidFill>
                <a:latin typeface="Arial"/>
                <a:ea typeface="SimSun"/>
              </a:rPr>
              <a:t>CREDITS · 致 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0" b="0">
                <a:solidFill>
                  <a:srgbClr val="F1EBE0"/>
                </a:solidFill>
                <a:latin typeface="SimSun"/>
                <a:ea typeface="SimSun"/>
              </a:rPr>
              <a:t>哥 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E8E0D0"/>
                </a:solidFill>
                <a:latin typeface="SimSun"/>
                <a:ea typeface="SimSun"/>
              </a:rPr>
              <a:t>窑火不灭 · 兄弟如线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D99A52"/>
                </a:solidFill>
                <a:latin typeface="Arial"/>
                <a:ea typeface="SimSun"/>
              </a:rPr>
              <a:t>24 SLIDES · 66 SHOTS · 3 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D99A52"/>
                </a:solidFill>
                <a:latin typeface="SimSun"/>
                <a:ea typeface="SimSun"/>
              </a:rPr>
              <a:t>— 谢 谢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A8275"/>
                </a:solidFill>
                <a:latin typeface="Arial"/>
                <a:ea typeface="SimSun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