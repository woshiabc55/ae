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981047" y="685800"/>
            <a:ext cx="8229600" cy="8229600"/>
          </a:xfrm>
          <a:prstGeom prst="ellipse">
            <a:avLst/>
          </a:prstGeom>
          <a:solidFill>
            <a:srgbClr val="E3B25A">
              <a:alpha val="11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1691640"/>
            <a:ext cx="6217920" cy="6217920"/>
          </a:xfrm>
          <a:prstGeom prst="ellipse">
            <a:avLst/>
          </a:prstGeom>
          <a:solidFill>
            <a:srgbClr val="C44A30">
              <a:alpha val="76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901287" y="2606040"/>
            <a:ext cx="4389120" cy="4389120"/>
          </a:xfrm>
          <a:prstGeom prst="ellipse">
            <a:avLst/>
          </a:prstGeom>
          <a:solidFill>
            <a:srgbClr val="9A3A2A">
              <a:alpha val="4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8000" cy="59436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26495" y="457200"/>
            <a:ext cx="8000" cy="59436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731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B5AB96"/>
                </a:solidFill>
                <a:latin typeface="思源宋体"/>
                <a:ea typeface="思源宋体"/>
              </a:rPr>
              <a:t>主 旨 解 读 · 第 一 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731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770"/>
                </a:solidFill>
                <a:latin typeface="Cormorant Garamond"/>
                <a:ea typeface="Cormorant Garamond"/>
              </a:rPr>
              <a:t>GE · SONG · KILN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5448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0" b="1" i="0">
                <a:solidFill>
                  <a:srgbClr val="F4ECDC"/>
                </a:solidFill>
                <a:latin typeface="思源宋体"/>
                <a:ea typeface="思源宋体"/>
              </a:rPr>
              <a:t>哥</a:t>
            </a:r>
          </a:p>
          <a:p>
            <a:pPr algn="ctr">
              <a:spcBef>
                <a:spcPts val="2000"/>
              </a:spcBef>
              <a:spcAft>
                <a:spcPts val="0"/>
              </a:spcAft>
            </a:pPr>
            <a:r>
              <a:rPr sz="12000" b="1" i="0">
                <a:solidFill>
                  <a:srgbClr val="E3B25A"/>
                </a:solidFill>
                <a:latin typeface="思源宋体"/>
                <a:ea typeface="思源宋体"/>
              </a:rPr>
              <a:t>·  歌  ·</a:t>
            </a:r>
          </a:p>
          <a:p>
            <a:pPr algn="ctr">
              <a:spcBef>
                <a:spcPts val="2000"/>
              </a:spcBef>
              <a:spcAft>
                <a:spcPts val="0"/>
              </a:spcAft>
            </a:pPr>
            <a:r>
              <a:rPr sz="22000" b="1" i="0">
                <a:solidFill>
                  <a:srgbClr val="F4ECDC"/>
                </a:solidFill>
                <a:latin typeface="思源宋体"/>
                <a:ea typeface="思源宋体"/>
              </a:rPr>
              <a:t>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A6770"/>
                </a:solidFill>
                <a:latin typeface="Cormorant Garamond"/>
                <a:ea typeface="Cormorant Garamond"/>
              </a:rPr>
              <a:t>GE  ·  SONG  ·  KILN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9436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4ECDC"/>
                </a:solidFill>
                <a:latin typeface="思源宋体"/>
                <a:ea typeface="思源宋体"/>
              </a:rPr>
              <a:t>哥窑之「哥」，非长幼之序，乃「歌」之古字 —— 窑火如歌，兄弟如线。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28655" y="1188720"/>
            <a:ext cx="914400" cy="914400"/>
          </a:xfrm>
          <a:prstGeom prst="rect">
            <a:avLst/>
          </a:prstGeom>
          <a:solidFill>
            <a:srgbClr val="9A3A2A"/>
          </a:solidFill>
          <a:ln w="12700">
            <a:solidFill>
              <a:srgbClr val="F4E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28655" y="118872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4ECDC"/>
                </a:solidFill>
                <a:latin typeface="思源宋体"/>
                <a:ea typeface="思源宋体"/>
              </a:rPr>
              <a:t>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400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3B25A"/>
                </a:solidFill>
                <a:latin typeface="思源宋体"/>
                <a:ea typeface="思源宋体"/>
              </a:rPr>
              <a:t>修 正 版  ·  哥 哥 = 张  寄   ·   弟 弟 = 张  志  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2438339" cy="254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28655" y="228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JetBrains Mono"/>
                <a:ea typeface="JetBrains Mono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E3B25A"/>
                </a:solidFill>
                <a:latin typeface="思源宋体"/>
                <a:ea typeface="思源宋体"/>
              </a:rPr>
              <a:t>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ECDC"/>
                </a:solidFill>
                <a:latin typeface="思源宋体"/>
                <a:ea typeface="思源宋体"/>
              </a:rPr>
              <a:t>总   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770"/>
                </a:solidFill>
                <a:latin typeface="Cormorant Garamond"/>
                <a:ea typeface="Cormorant Garamond"/>
              </a:rPr>
              <a:t>  /  THE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60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5AB96"/>
                </a:solidFill>
                <a:latin typeface="思源宋体"/>
                <a:ea typeface="思源宋体"/>
              </a:rPr>
              <a:t>核心主旨不变 · 人物标签互换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solidFill>
            <a:srgbClr val="15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40000" cy="7772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E3B25A"/>
                </a:solidFill>
                <a:latin typeface="Cormorant Garamond"/>
                <a:ea typeface="Cormorant Garamond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62763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4ECDC"/>
                </a:solidFill>
                <a:latin typeface="思源宋体"/>
                <a:ea typeface="思源宋体"/>
              </a:rPr>
              <a:t>《哥窑》是关于「传承」的视觉史诗。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4937760" cy="2697480"/>
          </a:xfrm>
          <a:prstGeom prst="rect">
            <a:avLst/>
          </a:prstGeom>
          <a:solidFill>
            <a:srgbClr val="15130F"/>
          </a:solidFill>
          <a:ln w="9525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4937760" cy="20000"/>
          </a:xfrm>
          <a:prstGeom prst="rect">
            <a:avLst/>
          </a:prstGeom>
          <a:solidFill>
            <a:srgbClr val="7FA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FAEA1"/>
                </a:solidFill>
                <a:latin typeface="思源宋体"/>
                <a:ea typeface="思源宋体"/>
              </a:rPr>
              <a:t>持 灯 者  ·  守 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718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7FAEA1"/>
                </a:solidFill>
                <a:latin typeface="思源宋体"/>
                <a:ea typeface="思源宋体"/>
              </a:rPr>
              <a:t>哥  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ECDC"/>
                </a:solidFill>
                <a:latin typeface="思源宋体"/>
                <a:ea typeface="思源宋体"/>
              </a:rPr>
              <a:t>张   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3200400" cy="10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24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D8E82"/>
                </a:solidFill>
                <a:latin typeface="思源宋体"/>
                <a:ea typeface="思源宋体"/>
              </a:rPr>
              <a:t>▸ 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24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5AB96"/>
                </a:solidFill>
                <a:latin typeface="思源宋体"/>
                <a:ea typeface="思源宋体"/>
              </a:rPr>
              <a:t>· 规划的锚点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4439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D8E82"/>
                </a:solidFill>
                <a:latin typeface="思源宋体"/>
                <a:ea typeface="思源宋体"/>
              </a:rPr>
              <a:t>▸ 承担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44398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5AB96"/>
                </a:solidFill>
                <a:latin typeface="思源宋体"/>
                <a:ea typeface="思源宋体"/>
              </a:rPr>
              <a:t>· 战火中接过嘱托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D8E82"/>
                </a:solidFill>
                <a:latin typeface="思源宋体"/>
                <a:ea typeface="思源宋体"/>
              </a:rPr>
              <a:t>▸ 守护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634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5AB96"/>
                </a:solidFill>
                <a:latin typeface="思源宋体"/>
                <a:ea typeface="思源宋体"/>
              </a:rPr>
              <a:t>· 火候失控时拉住弟弟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4632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4ECDC"/>
                </a:solidFill>
                <a:latin typeface="思源宋体"/>
                <a:ea typeface="思源宋体"/>
              </a:rPr>
              <a:t>「等！现在开窑，全毁了！」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1091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770"/>
                </a:solidFill>
                <a:latin typeface="JetBrains Mono"/>
                <a:ea typeface="JetBrains Mono"/>
              </a:rPr>
              <a:t>—— 镜号 53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2743200"/>
            <a:ext cx="10000" cy="214884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6440" y="2971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思源宋体"/>
                <a:ea typeface="思源宋体"/>
              </a:rPr>
              <a:t>持 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6634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思源宋体"/>
                <a:ea typeface="思源宋体"/>
              </a:rPr>
              <a:t>开 创</a:t>
            </a:r>
          </a:p>
        </p:txBody>
      </p:sp>
      <p:sp>
        <p:nvSpPr>
          <p:cNvPr id="27" name="Oval 26"/>
          <p:cNvSpPr/>
          <p:nvPr/>
        </p:nvSpPr>
        <p:spPr>
          <a:xfrm>
            <a:off x="6025896" y="3739896"/>
            <a:ext cx="109728" cy="109728"/>
          </a:xfrm>
          <a:prstGeom prst="ellipse">
            <a:avLst/>
          </a:prstGeom>
          <a:solidFill>
            <a:srgbClr val="E3B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0" y="2468880"/>
            <a:ext cx="4937760" cy="2697480"/>
          </a:xfrm>
          <a:prstGeom prst="rect">
            <a:avLst/>
          </a:prstGeom>
          <a:solidFill>
            <a:srgbClr val="15130F"/>
          </a:solidFill>
          <a:ln w="9525">
            <a:solidFill>
              <a:srgbClr val="3A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2468880"/>
            <a:ext cx="4937760" cy="20000"/>
          </a:xfrm>
          <a:prstGeom prst="rect">
            <a:avLst/>
          </a:prstGeom>
          <a:solidFill>
            <a:srgbClr val="C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26517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行 路 人  ·  探 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718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C44A30"/>
                </a:solidFill>
                <a:latin typeface="思源宋体"/>
                <a:ea typeface="思源宋体"/>
              </a:rPr>
              <a:t>弟  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49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4ECDC"/>
                </a:solidFill>
                <a:latin typeface="思源宋体"/>
                <a:ea typeface="思源宋体"/>
              </a:rPr>
              <a:t>张   志   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114800"/>
            <a:ext cx="3200400" cy="10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224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▸ 感性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2245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5AB96"/>
                </a:solidFill>
                <a:latin typeface="思源宋体"/>
                <a:ea typeface="思源宋体"/>
              </a:rPr>
              <a:t>· 能听见「土在唱歌」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44398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▸ 天赋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44398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5AB96"/>
                </a:solidFill>
                <a:latin typeface="思源宋体"/>
                <a:ea typeface="思源宋体"/>
              </a:rPr>
              <a:t>· 紫金土的发现者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66344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▸ 开创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6634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5AB96"/>
                </a:solidFill>
                <a:latin typeface="思源宋体"/>
                <a:ea typeface="思源宋体"/>
              </a:rPr>
              <a:t>· 金丝铁线的引线人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84632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4ECDC"/>
                </a:solidFill>
                <a:latin typeface="思源宋体"/>
                <a:ea typeface="思源宋体"/>
              </a:rPr>
              <a:t>「哥，这土……在唱歌。」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01091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770"/>
                </a:solidFill>
                <a:latin typeface="JetBrains Mono"/>
                <a:ea typeface="JetBrains Mono"/>
              </a:rPr>
              <a:t>—— 镜号 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212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B25A"/>
                </a:solidFill>
                <a:latin typeface="思源宋体"/>
                <a:ea typeface="思源宋体"/>
              </a:rPr>
              <a:t>三 幕  ·  情 绪 曲 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440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A6770"/>
                </a:solidFill>
                <a:latin typeface="Cormorant Garamond"/>
                <a:ea typeface="Cormorant Garamond"/>
              </a:rPr>
              <a:t>THE  EMOTIONAL  WAVEFORM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623560"/>
            <a:ext cx="1069848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731520" y="5594346"/>
            <a:ext cx="35780" cy="510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767300" y="5589553"/>
            <a:ext cx="35781" cy="479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03081" y="5585167"/>
            <a:ext cx="35781" cy="43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8862" y="5581280"/>
            <a:ext cx="35781" cy="388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74643" y="5577973"/>
            <a:ext cx="35781" cy="330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10424" y="5575310"/>
            <a:ext cx="35781" cy="266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46205" y="5573339"/>
            <a:ext cx="35781" cy="197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981986" y="5572091"/>
            <a:ext cx="35780" cy="124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017766" y="5571575"/>
            <a:ext cx="35781" cy="51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53547" y="5571575"/>
            <a:ext cx="35781" cy="20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89328" y="5571784"/>
            <a:ext cx="35781" cy="9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125109" y="5572688"/>
            <a:ext cx="35781" cy="155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60890" y="5574241"/>
            <a:ext cx="35781" cy="21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196671" y="5576380"/>
            <a:ext cx="35781" cy="264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232452" y="5579028"/>
            <a:ext cx="35781" cy="300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268233" y="5582037"/>
            <a:ext cx="35780" cy="233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304013" y="5584368"/>
            <a:ext cx="35781" cy="274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339794" y="5587117"/>
            <a:ext cx="35781" cy="307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375575" y="5590187"/>
            <a:ext cx="35781" cy="328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411356" y="5593470"/>
            <a:ext cx="35781" cy="338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447137" y="5596852"/>
            <a:ext cx="35781" cy="336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482918" y="5600218"/>
            <a:ext cx="35781" cy="323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18699" y="5603451"/>
            <a:ext cx="35781" cy="299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54480" y="5606445"/>
            <a:ext cx="35780" cy="265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590260" y="5609101"/>
            <a:ext cx="35781" cy="223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626041" y="5611336"/>
            <a:ext cx="35781" cy="174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661822" y="5613084"/>
            <a:ext cx="35781" cy="121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697603" y="5614296"/>
            <a:ext cx="35781" cy="65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733384" y="5614947"/>
            <a:ext cx="35781" cy="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769165" y="5614571"/>
            <a:ext cx="35781" cy="4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04946" y="5613599"/>
            <a:ext cx="35780" cy="97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840726" y="5612172"/>
            <a:ext cx="35781" cy="142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876507" y="5610364"/>
            <a:ext cx="35781" cy="180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912288" y="5608257"/>
            <a:ext cx="35781" cy="210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948069" y="5605945"/>
            <a:ext cx="35781" cy="231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983850" y="5603524"/>
            <a:ext cx="35781" cy="242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019631" y="5601091"/>
            <a:ext cx="35781" cy="243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55412" y="5598735"/>
            <a:ext cx="35781" cy="235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091193" y="5596541"/>
            <a:ext cx="35780" cy="219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126973" y="5594578"/>
            <a:ext cx="35781" cy="196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162754" y="5592899"/>
            <a:ext cx="35781" cy="167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198535" y="5591542"/>
            <a:ext cx="35781" cy="135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234316" y="5590523"/>
            <a:ext cx="35781" cy="101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70097" y="5589837"/>
            <a:ext cx="35781" cy="6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305878" y="5589498"/>
            <a:ext cx="35781" cy="3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341659" y="5589498"/>
            <a:ext cx="35781" cy="13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377440" y="5589629"/>
            <a:ext cx="35780" cy="33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413220" y="5589962"/>
            <a:ext cx="35781" cy="46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449001" y="5590422"/>
            <a:ext cx="35781" cy="50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484782" y="5590930"/>
            <a:ext cx="35781" cy="47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520563" y="5591402"/>
            <a:ext cx="35781" cy="35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556344" y="5591755"/>
            <a:ext cx="35781" cy="15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592125" y="5591813"/>
            <a:ext cx="35781" cy="10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27906" y="5591398"/>
            <a:ext cx="35780" cy="41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63686" y="5590634"/>
            <a:ext cx="35781" cy="76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699467" y="5589503"/>
            <a:ext cx="35781" cy="113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735248" y="5588007"/>
            <a:ext cx="35781" cy="149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771029" y="5586170"/>
            <a:ext cx="35781" cy="183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06810" y="5584035"/>
            <a:ext cx="35781" cy="213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842591" y="5581663"/>
            <a:ext cx="35781" cy="237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78372" y="5579131"/>
            <a:ext cx="35781" cy="253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914153" y="5576528"/>
            <a:ext cx="35780" cy="260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949933" y="5573953"/>
            <a:ext cx="35781" cy="257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985714" y="5571506"/>
            <a:ext cx="35781" cy="244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021495" y="5569290"/>
            <a:ext cx="35781" cy="221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057276" y="5567399"/>
            <a:ext cx="35781" cy="189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093057" y="5565917"/>
            <a:ext cx="35781" cy="148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128838" y="5564913"/>
            <a:ext cx="35781" cy="10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164619" y="5564436"/>
            <a:ext cx="35781" cy="47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200400" y="5564436"/>
            <a:ext cx="35780" cy="7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236180" y="5564512"/>
            <a:ext cx="35781" cy="63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271961" y="5565144"/>
            <a:ext cx="35781" cy="116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307742" y="5566305"/>
            <a:ext cx="35781" cy="164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343523" y="5567945"/>
            <a:ext cx="35781" cy="204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379304" y="5569986"/>
            <a:ext cx="35781" cy="234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415085" y="5572328"/>
            <a:ext cx="35781" cy="252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450866" y="5574850"/>
            <a:ext cx="35780" cy="256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486646" y="5577416"/>
            <a:ext cx="35781" cy="246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22427" y="5579879"/>
            <a:ext cx="35781" cy="220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558208" y="5582088"/>
            <a:ext cx="35781" cy="180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593989" y="5583894"/>
            <a:ext cx="35781" cy="126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629770" y="5585155"/>
            <a:ext cx="35781" cy="59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665551" y="5585563"/>
            <a:ext cx="35781" cy="18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01332" y="5584529"/>
            <a:ext cx="35781" cy="103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37113" y="5582599"/>
            <a:ext cx="35780" cy="193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72893" y="5579763"/>
            <a:ext cx="35781" cy="283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8674" y="5576052"/>
            <a:ext cx="35781" cy="371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44455" y="5571532"/>
            <a:ext cx="35781" cy="452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80236" y="5566314"/>
            <a:ext cx="35781" cy="521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916017" y="5560681"/>
            <a:ext cx="35781" cy="563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951798" y="5555057"/>
            <a:ext cx="35781" cy="562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987579" y="5549353"/>
            <a:ext cx="35781" cy="57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023360" y="5543799"/>
            <a:ext cx="35780" cy="555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059140" y="5538632"/>
            <a:ext cx="35781" cy="516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094921" y="5534091"/>
            <a:ext cx="35781" cy="454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130702" y="5530406"/>
            <a:ext cx="35781" cy="368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166483" y="5527795"/>
            <a:ext cx="35781" cy="261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202264" y="5526449"/>
            <a:ext cx="35781" cy="134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238045" y="5526449"/>
            <a:ext cx="35781" cy="8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4273826" y="5526531"/>
            <a:ext cx="35780" cy="163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309606" y="5528167"/>
            <a:ext cx="35781" cy="327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345387" y="5531443"/>
            <a:ext cx="35781" cy="495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381168" y="5536397"/>
            <a:ext cx="35781" cy="662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416949" y="5543025"/>
            <a:ext cx="35781" cy="824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452730" y="5551271"/>
            <a:ext cx="35781" cy="976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488511" y="5561036"/>
            <a:ext cx="35781" cy="1114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524292" y="5572176"/>
            <a:ext cx="35781" cy="1233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560073" y="5584508"/>
            <a:ext cx="35780" cy="1330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595853" y="5597816"/>
            <a:ext cx="35781" cy="140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631634" y="5611855"/>
            <a:ext cx="35781" cy="1450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667415" y="5626363"/>
            <a:ext cx="35781" cy="1470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703196" y="5641065"/>
            <a:ext cx="35781" cy="1461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738977" y="5655683"/>
            <a:ext cx="35781" cy="142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774758" y="5669945"/>
            <a:ext cx="35781" cy="1364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810539" y="5683593"/>
            <a:ext cx="35781" cy="1279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846320" y="5696390"/>
            <a:ext cx="35780" cy="117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882100" y="5708129"/>
            <a:ext cx="35781" cy="1050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917881" y="5718634"/>
            <a:ext cx="35781" cy="913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4953662" y="5727771"/>
            <a:ext cx="35781" cy="767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989443" y="5735445"/>
            <a:ext cx="35781" cy="61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5025224" y="5741607"/>
            <a:ext cx="35781" cy="464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061005" y="5746249"/>
            <a:ext cx="35781" cy="315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5096786" y="5749407"/>
            <a:ext cx="35780" cy="174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5132566" y="5751156"/>
            <a:ext cx="35781" cy="44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5168347" y="5750895"/>
            <a:ext cx="35781" cy="71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5204128" y="5749188"/>
            <a:ext cx="35781" cy="170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5239909" y="5746667"/>
            <a:ext cx="35781" cy="252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5275690" y="5743521"/>
            <a:ext cx="35781" cy="314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5311471" y="5739943"/>
            <a:ext cx="35781" cy="357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5347252" y="5736124"/>
            <a:ext cx="35781" cy="381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5383033" y="5732240"/>
            <a:ext cx="35780" cy="388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5418813" y="5728452"/>
            <a:ext cx="35781" cy="378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5454594" y="5724899"/>
            <a:ext cx="35781" cy="355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5490375" y="5721694"/>
            <a:ext cx="35781" cy="320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5526156" y="5719397"/>
            <a:ext cx="35781" cy="229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5561937" y="5718133"/>
            <a:ext cx="35781" cy="126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5597718" y="5717340"/>
            <a:ext cx="35781" cy="79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5633499" y="5717025"/>
            <a:ext cx="35781" cy="31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5669280" y="5717025"/>
            <a:ext cx="35780" cy="14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5705060" y="5717167"/>
            <a:ext cx="35781" cy="55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5740841" y="5717717"/>
            <a:ext cx="35781" cy="8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5776622" y="5718603"/>
            <a:ext cx="35781" cy="112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5812403" y="5719730"/>
            <a:ext cx="35781" cy="126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5848184" y="5720990"/>
            <a:ext cx="35781" cy="127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5883965" y="5722264"/>
            <a:ext cx="35781" cy="116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5919746" y="5723431"/>
            <a:ext cx="35780" cy="93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5955526" y="5724369"/>
            <a:ext cx="35781" cy="59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5991307" y="5724968"/>
            <a:ext cx="35781" cy="1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6027088" y="5724776"/>
            <a:ext cx="35781" cy="35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6062869" y="5723852"/>
            <a:ext cx="35781" cy="92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6098650" y="5722327"/>
            <a:ext cx="35781" cy="152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6134431" y="5720199"/>
            <a:ext cx="35781" cy="212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6170212" y="5717493"/>
            <a:ext cx="35781" cy="270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6205993" y="5714262"/>
            <a:ext cx="35780" cy="323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6241773" y="5710583"/>
            <a:ext cx="35781" cy="367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6277554" y="5706555"/>
            <a:ext cx="35781" cy="402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6313335" y="5702291"/>
            <a:ext cx="35781" cy="426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6349116" y="5697919"/>
            <a:ext cx="35781" cy="437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6384897" y="5693570"/>
            <a:ext cx="35781" cy="434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6420678" y="5689373"/>
            <a:ext cx="35781" cy="419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6456459" y="5685450"/>
            <a:ext cx="35781" cy="392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6492240" y="5681907"/>
            <a:ext cx="35780" cy="354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6528020" y="5678833"/>
            <a:ext cx="35781" cy="307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6563801" y="5676289"/>
            <a:ext cx="35781" cy="254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6599582" y="5674153"/>
            <a:ext cx="35781" cy="213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6635363" y="5672467"/>
            <a:ext cx="35781" cy="16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6671144" y="5671324"/>
            <a:ext cx="35781" cy="114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6706925" y="5670648"/>
            <a:ext cx="35781" cy="67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6742706" y="5670337"/>
            <a:ext cx="35780" cy="31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6778486" y="5670263"/>
            <a:ext cx="35781" cy="7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6814267" y="5670263"/>
            <a:ext cx="35781" cy="1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6850048" y="5670221"/>
            <a:ext cx="35781" cy="5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6885829" y="5669924"/>
            <a:ext cx="35781" cy="29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6921610" y="5669221"/>
            <a:ext cx="35781" cy="70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6957391" y="5667953"/>
            <a:ext cx="35781" cy="126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6993172" y="5665980"/>
            <a:ext cx="35781" cy="197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7028953" y="5663185"/>
            <a:ext cx="35780" cy="279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7064733" y="5659481"/>
            <a:ext cx="35781" cy="37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7100514" y="5654819"/>
            <a:ext cx="35781" cy="46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7136295" y="5649188"/>
            <a:ext cx="35781" cy="563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7172076" y="5642623"/>
            <a:ext cx="35781" cy="656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7207857" y="5635199"/>
            <a:ext cx="35781" cy="742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7243638" y="5627037"/>
            <a:ext cx="35781" cy="81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7279419" y="5618298"/>
            <a:ext cx="35781" cy="87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7315200" y="5609181"/>
            <a:ext cx="35780" cy="911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7350980" y="5599913"/>
            <a:ext cx="35781" cy="926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7386761" y="5590747"/>
            <a:ext cx="35781" cy="916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7422542" y="5581949"/>
            <a:ext cx="35781" cy="879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7458323" y="5573793"/>
            <a:ext cx="35781" cy="815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7494104" y="5566547"/>
            <a:ext cx="35781" cy="724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7529885" y="5560467"/>
            <a:ext cx="35781" cy="608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7565666" y="5555784"/>
            <a:ext cx="35780" cy="468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7601446" y="5552698"/>
            <a:ext cx="35781" cy="30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7637227" y="5551365"/>
            <a:ext cx="35781" cy="133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7673008" y="5551365"/>
            <a:ext cx="35781" cy="154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7708789" y="5552913"/>
            <a:ext cx="35781" cy="392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7744570" y="5556837"/>
            <a:ext cx="35781" cy="561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7780351" y="5562456"/>
            <a:ext cx="35781" cy="713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7816132" y="5569592"/>
            <a:ext cx="35781" cy="842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7851913" y="5578020"/>
            <a:ext cx="35780" cy="945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7887693" y="5587474"/>
            <a:ext cx="35781" cy="1018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7923474" y="5597663"/>
            <a:ext cx="35781" cy="1061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7959255" y="5608275"/>
            <a:ext cx="35781" cy="1071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7995036" y="5618992"/>
            <a:ext cx="35781" cy="1050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030817" y="5629500"/>
            <a:ext cx="35781" cy="1000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8066598" y="5639500"/>
            <a:ext cx="35781" cy="921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8102379" y="5648718"/>
            <a:ext cx="35781" cy="819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8138160" y="5656913"/>
            <a:ext cx="35780" cy="697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8173940" y="5663886"/>
            <a:ext cx="35781" cy="559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8209721" y="5669483"/>
            <a:ext cx="35781" cy="411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8245502" y="5673601"/>
            <a:ext cx="35781" cy="258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8281283" y="5676190"/>
            <a:ext cx="35781" cy="105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8317064" y="5676827"/>
            <a:ext cx="35781" cy="42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8352845" y="5675020"/>
            <a:ext cx="35781" cy="180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8388626" y="5671963"/>
            <a:ext cx="35780" cy="305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8424406" y="5668858"/>
            <a:ext cx="35781" cy="310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8460187" y="5665066"/>
            <a:ext cx="35781" cy="379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8495968" y="5660271"/>
            <a:ext cx="35781" cy="479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8531749" y="5654607"/>
            <a:ext cx="35781" cy="566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8567530" y="5648228"/>
            <a:ext cx="35781" cy="637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8603311" y="5641301"/>
            <a:ext cx="35781" cy="692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8639092" y="5634000"/>
            <a:ext cx="35781" cy="730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8674873" y="5626502"/>
            <a:ext cx="35780" cy="749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8710653" y="5618979"/>
            <a:ext cx="35781" cy="752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8746434" y="5611594"/>
            <a:ext cx="35781" cy="738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8782215" y="5604495"/>
            <a:ext cx="35781" cy="709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8817996" y="5597810"/>
            <a:ext cx="35781" cy="668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8853777" y="5591648"/>
            <a:ext cx="35781" cy="616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8889558" y="5586089"/>
            <a:ext cx="35781" cy="555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8925339" y="5581190"/>
            <a:ext cx="35781" cy="489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8961120" y="5576979"/>
            <a:ext cx="35780" cy="421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8996900" y="5573459"/>
            <a:ext cx="35781" cy="352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9032681" y="5570609"/>
            <a:ext cx="35781" cy="285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9068462" y="5568385"/>
            <a:ext cx="35781" cy="222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9104243" y="5566725"/>
            <a:ext cx="35781" cy="166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9140024" y="5565549"/>
            <a:ext cx="35781" cy="117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9175805" y="5564770"/>
            <a:ext cx="35781" cy="77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9211586" y="5564292"/>
            <a:ext cx="35780" cy="47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9247366" y="5564020"/>
            <a:ext cx="35781" cy="27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9283147" y="5563857"/>
            <a:ext cx="35781" cy="16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9318928" y="5563718"/>
            <a:ext cx="35781" cy="1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9354709" y="5563525"/>
            <a:ext cx="35781" cy="19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9390490" y="5563214"/>
            <a:ext cx="35781" cy="31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9426271" y="5562739"/>
            <a:ext cx="35781" cy="47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9462052" y="5562068"/>
            <a:ext cx="35781" cy="67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9497833" y="5558160"/>
            <a:ext cx="35780" cy="390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9533613" y="5553247"/>
            <a:ext cx="35781" cy="491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9569394" y="5547972"/>
            <a:ext cx="35781" cy="527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9605175" y="5542347"/>
            <a:ext cx="35781" cy="562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9640956" y="5536411"/>
            <a:ext cx="35781" cy="593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9676737" y="5530230"/>
            <a:ext cx="35781" cy="618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9712518" y="5523891"/>
            <a:ext cx="35781" cy="633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9748299" y="5517504"/>
            <a:ext cx="35781" cy="638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9784080" y="5511195"/>
            <a:ext cx="35780" cy="630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9819860" y="5505101"/>
            <a:ext cx="35781" cy="609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9855641" y="5499364"/>
            <a:ext cx="35781" cy="573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9891422" y="5494123"/>
            <a:ext cx="35781" cy="524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9927203" y="5489505"/>
            <a:ext cx="35781" cy="461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9962984" y="5485621"/>
            <a:ext cx="35781" cy="388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9998765" y="5482554"/>
            <a:ext cx="35781" cy="306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0034546" y="5480360"/>
            <a:ext cx="35780" cy="219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10070326" y="5479056"/>
            <a:ext cx="35781" cy="13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10106107" y="5478624"/>
            <a:ext cx="35781" cy="432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10141888" y="5478624"/>
            <a:ext cx="35781" cy="532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10177669" y="5483949"/>
            <a:ext cx="35781" cy="635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10213450" y="5490306"/>
            <a:ext cx="35781" cy="652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249231" y="5496833"/>
            <a:ext cx="35781" cy="652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285012" y="5503359"/>
            <a:ext cx="35781" cy="635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320793" y="5509717"/>
            <a:ext cx="35780" cy="603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356573" y="5515755"/>
            <a:ext cx="35781" cy="558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392354" y="5521338"/>
            <a:ext cx="35781" cy="501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10428135" y="5526357"/>
            <a:ext cx="35781" cy="437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10463916" y="5530735"/>
            <a:ext cx="35781" cy="369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10499697" y="5534428"/>
            <a:ext cx="35781" cy="300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10535478" y="5537428"/>
            <a:ext cx="35781" cy="233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10571259" y="5539765"/>
            <a:ext cx="35781" cy="174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0607040" y="5541505"/>
            <a:ext cx="35780" cy="1240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0642820" y="5542745"/>
            <a:ext cx="35781" cy="86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0678601" y="5543612"/>
            <a:ext cx="35781" cy="64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0714382" y="5544256"/>
            <a:ext cx="35781" cy="58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0750163" y="5544842"/>
            <a:ext cx="35781" cy="7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0785944" y="5545546"/>
            <a:ext cx="35781" cy="99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821725" y="5546545"/>
            <a:ext cx="35781" cy="1465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857506" y="5548010"/>
            <a:ext cx="35780" cy="208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893286" y="5550098"/>
            <a:ext cx="35781" cy="236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929067" y="5552466"/>
            <a:ext cx="35781" cy="324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0964848" y="5555712"/>
            <a:ext cx="35781" cy="4248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1000629" y="5559960"/>
            <a:ext cx="35781" cy="531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036410" y="5565276"/>
            <a:ext cx="35781" cy="641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1072191" y="5571687"/>
            <a:ext cx="35781" cy="749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1107972" y="5579184"/>
            <a:ext cx="35781" cy="8531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1143753" y="5587715"/>
            <a:ext cx="35780" cy="947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1179533" y="5597189"/>
            <a:ext cx="35781" cy="10293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1215314" y="5607482"/>
            <a:ext cx="35781" cy="1094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1251095" y="5618431"/>
            <a:ext cx="35781" cy="11419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1286876" y="5629850"/>
            <a:ext cx="35781" cy="1167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1322657" y="5641526"/>
            <a:ext cx="35781" cy="11707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1358438" y="5653233"/>
            <a:ext cx="35781" cy="11504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1394219" y="5664737"/>
            <a:ext cx="35781" cy="11066"/>
          </a:xfrm>
          <a:prstGeom prst="line">
            <a:avLst/>
          </a:prstGeom>
          <a:ln w="15240">
            <a:solidFill>
              <a:srgbClr val="E3B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Oval 343"/>
          <p:cNvSpPr/>
          <p:nvPr/>
        </p:nvSpPr>
        <p:spPr>
          <a:xfrm>
            <a:off x="1202436" y="5559552"/>
            <a:ext cx="128016" cy="128016"/>
          </a:xfrm>
          <a:prstGeom prst="ellipse">
            <a:avLst/>
          </a:prstGeom>
          <a:solidFill>
            <a:srgbClr val="7FAEA1"/>
          </a:solidFill>
          <a:ln w="19050">
            <a:solidFill>
              <a:srgbClr val="0E0D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260604" y="49834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FAEA1"/>
                </a:solidFill>
                <a:latin typeface="思源宋体"/>
                <a:ea typeface="思源宋体"/>
              </a:rPr>
              <a:t>序幕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5AB96"/>
                </a:solidFill>
                <a:latin typeface="思源宋体"/>
                <a:ea typeface="思源宋体"/>
              </a:rPr>
              <a:t>1-5  ·  离愁</a:t>
            </a:r>
          </a:p>
        </p:txBody>
      </p:sp>
      <p:sp>
        <p:nvSpPr>
          <p:cNvPr id="346" name="Oval 345"/>
          <p:cNvSpPr/>
          <p:nvPr/>
        </p:nvSpPr>
        <p:spPr>
          <a:xfrm>
            <a:off x="4091025" y="5559552"/>
            <a:ext cx="128016" cy="128016"/>
          </a:xfrm>
          <a:prstGeom prst="ellipse">
            <a:avLst/>
          </a:prstGeom>
          <a:solidFill>
            <a:srgbClr val="F4ECDC"/>
          </a:solidFill>
          <a:ln w="19050">
            <a:solidFill>
              <a:srgbClr val="0E0D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3149193" y="49834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ECDC"/>
                </a:solidFill>
                <a:latin typeface="思源宋体"/>
                <a:ea typeface="思源宋体"/>
              </a:rPr>
              <a:t>第一幕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5AB96"/>
                </a:solidFill>
                <a:latin typeface="思源宋体"/>
                <a:ea typeface="思源宋体"/>
              </a:rPr>
              <a:t>6-35  ·  南下·紫金土</a:t>
            </a:r>
          </a:p>
        </p:txBody>
      </p:sp>
      <p:sp>
        <p:nvSpPr>
          <p:cNvPr id="348" name="Oval 347"/>
          <p:cNvSpPr/>
          <p:nvPr/>
        </p:nvSpPr>
        <p:spPr>
          <a:xfrm>
            <a:off x="6872630" y="5559552"/>
            <a:ext cx="128016" cy="128016"/>
          </a:xfrm>
          <a:prstGeom prst="ellipse">
            <a:avLst/>
          </a:prstGeom>
          <a:solidFill>
            <a:srgbClr val="E3B25A"/>
          </a:solidFill>
          <a:ln w="19050">
            <a:solidFill>
              <a:srgbClr val="0E0D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5930798" y="49834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3B25A"/>
                </a:solidFill>
                <a:latin typeface="思源宋体"/>
                <a:ea typeface="思源宋体"/>
              </a:rPr>
              <a:t>第二幕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5AB96"/>
                </a:solidFill>
                <a:latin typeface="思源宋体"/>
                <a:ea typeface="思源宋体"/>
              </a:rPr>
              <a:t>36-47  ·  贡品之印</a:t>
            </a:r>
          </a:p>
        </p:txBody>
      </p:sp>
      <p:sp>
        <p:nvSpPr>
          <p:cNvPr id="350" name="Oval 349"/>
          <p:cNvSpPr/>
          <p:nvPr/>
        </p:nvSpPr>
        <p:spPr>
          <a:xfrm>
            <a:off x="9761220" y="5559552"/>
            <a:ext cx="128016" cy="128016"/>
          </a:xfrm>
          <a:prstGeom prst="ellipse">
            <a:avLst/>
          </a:prstGeom>
          <a:solidFill>
            <a:srgbClr val="C44A30"/>
          </a:solidFill>
          <a:ln w="19050">
            <a:solidFill>
              <a:srgbClr val="0E0D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819388" y="49834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4A30"/>
                </a:solidFill>
                <a:latin typeface="思源宋体"/>
                <a:ea typeface="思源宋体"/>
              </a:rPr>
              <a:t>第三幕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5AB96"/>
                </a:solidFill>
                <a:latin typeface="思源宋体"/>
                <a:ea typeface="思源宋体"/>
              </a:rPr>
              <a:t>48-66  ·  开片·并肩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B5AB96"/>
                </a:solidFill>
                <a:latin typeface="思源宋体"/>
                <a:ea typeface="思源宋体"/>
              </a:rPr>
              <a:t>哥哥，是「歌」的定音鼓；弟弟，是「歌」的延长线 —— 整部短片，就是一首起伏绵长的歌。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640080" y="6373368"/>
            <a:ext cx="1097280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0" y="0"/>
            <a:ext cx="4876678" cy="254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10728655" y="228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JetBrains Mono"/>
                <a:ea typeface="JetBrains Mono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E3B25A"/>
                </a:solidFill>
                <a:latin typeface="思源宋体"/>
                <a:ea typeface="思源宋体"/>
              </a:rPr>
              <a:t>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ECDC"/>
                </a:solidFill>
                <a:latin typeface="思源宋体"/>
                <a:ea typeface="思源宋体"/>
              </a:rPr>
              <a:t>证   据   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770"/>
                </a:solidFill>
                <a:latin typeface="Cormorant Garamond"/>
                <a:ea typeface="Cormorant Garamond"/>
              </a:rPr>
              <a:t>  /  FROM THE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601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5AB96"/>
                </a:solidFill>
                <a:latin typeface="思源宋体"/>
                <a:ea typeface="思源宋体"/>
              </a:rPr>
              <a:t>五处镜号 · 两重性格的彼此成就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69440"/>
            <a:ext cx="1097280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1280160" cy="411480"/>
          </a:xfrm>
          <a:prstGeom prst="rect">
            <a:avLst/>
          </a:prstGeom>
          <a:solidFill>
            <a:srgbClr val="0E0D0B"/>
          </a:solidFill>
          <a:ln w="9525">
            <a:solidFill>
              <a:srgbClr val="7FAE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FAEA1"/>
                </a:solidFill>
                <a:latin typeface="思源宋体"/>
                <a:ea typeface="思源宋体"/>
              </a:rPr>
              <a:t>哥哥·持守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916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B25A"/>
                </a:solidFill>
                <a:latin typeface="JetBrains Mono"/>
                <a:ea typeface="JetBrains Mono"/>
              </a:rPr>
              <a:t>镜号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4ECDC"/>
                </a:solidFill>
                <a:latin typeface="思源宋体"/>
                <a:ea typeface="思源宋体"/>
              </a:rPr>
              <a:t>「往南走，找能烧窑的土地，不能丢。手艺不能断。志元，看好你弟弟。」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65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战乱中接过嘱托，以兄长之名承担全族手艺。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8120"/>
            <a:ext cx="1097280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280160" cy="411480"/>
          </a:xfrm>
          <a:prstGeom prst="rect">
            <a:avLst/>
          </a:prstGeom>
          <a:solidFill>
            <a:srgbClr val="0E0D0B"/>
          </a:solidFill>
          <a:ln w="9525">
            <a:solidFill>
              <a:srgbClr val="C44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弟弟·开创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60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B25A"/>
                </a:solidFill>
                <a:latin typeface="JetBrains Mono"/>
                <a:ea typeface="JetBrains Mono"/>
              </a:rPr>
              <a:t>镜号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4688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4ECDC"/>
                </a:solidFill>
                <a:latin typeface="思源宋体"/>
                <a:ea typeface="思源宋体"/>
              </a:rPr>
              <a:t>「哥，这土……在唱歌。」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834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紫金土的发现者 —— 天赋的感性回响。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06800"/>
            <a:ext cx="1097280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29000"/>
            <a:ext cx="1280160" cy="411480"/>
          </a:xfrm>
          <a:prstGeom prst="rect">
            <a:avLst/>
          </a:prstGeom>
          <a:solidFill>
            <a:srgbClr val="0E0D0B"/>
          </a:solidFill>
          <a:ln w="9525">
            <a:solidFill>
              <a:srgbClr val="7FAE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290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FAEA1"/>
                </a:solidFill>
                <a:latin typeface="思源宋体"/>
                <a:ea typeface="思源宋体"/>
              </a:rPr>
              <a:t>哥哥·持守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4290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B25A"/>
                </a:solidFill>
                <a:latin typeface="JetBrains Mono"/>
                <a:ea typeface="JetBrains Mono"/>
              </a:rPr>
              <a:t>镜号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337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4ECDC"/>
                </a:solidFill>
                <a:latin typeface="思源宋体"/>
                <a:ea typeface="思源宋体"/>
              </a:rPr>
              <a:t>「那就这儿了。」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703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以理性肯定弟弟的发现 —— 是节拍，亦是锚。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75480"/>
            <a:ext cx="1097280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297680"/>
            <a:ext cx="1280160" cy="411480"/>
          </a:xfrm>
          <a:prstGeom prst="rect">
            <a:avLst/>
          </a:prstGeom>
          <a:solidFill>
            <a:srgbClr val="0E0D0B"/>
          </a:solidFill>
          <a:ln w="9525">
            <a:solidFill>
              <a:srgbClr val="C44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弟弟·开创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297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B25A"/>
                </a:solidFill>
                <a:latin typeface="JetBrains Mono"/>
                <a:ea typeface="JetBrains Mono"/>
              </a:rPr>
              <a:t>镜号 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206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4ECDC"/>
                </a:solidFill>
                <a:latin typeface="思源宋体"/>
                <a:ea typeface="思源宋体"/>
              </a:rPr>
              <a:t>「哥……成了。」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572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金丝铁线开片，釉色如冰裂，释然之泪。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44160"/>
            <a:ext cx="1097280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166360"/>
            <a:ext cx="1280160" cy="411480"/>
          </a:xfrm>
          <a:prstGeom prst="rect">
            <a:avLst/>
          </a:prstGeom>
          <a:solidFill>
            <a:srgbClr val="0E0D0B"/>
          </a:solidFill>
          <a:ln w="9525">
            <a:solidFill>
              <a:srgbClr val="C44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1663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弟弟→兄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166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B25A"/>
                </a:solidFill>
                <a:latin typeface="JetBrains Mono"/>
                <a:ea typeface="JetBrains Mono"/>
              </a:rPr>
              <a:t>镜号 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5074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4ECDC"/>
                </a:solidFill>
                <a:latin typeface="思源宋体"/>
                <a:ea typeface="思源宋体"/>
              </a:rPr>
              <a:t>「哥，没有你这盏灯，我哪能坚持学业，这里都参着你的补贴呢。」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440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两双手按在同一方印上 —— 二重唱成立的瞬间。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83480"/>
            <a:ext cx="10972800" cy="868680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983480"/>
            <a:ext cx="60000" cy="86868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5166360"/>
            <a:ext cx="1280160" cy="411480"/>
          </a:xfrm>
          <a:prstGeom prst="rect">
            <a:avLst/>
          </a:prstGeom>
          <a:solidFill>
            <a:srgbClr val="0E0D0B"/>
          </a:solidFill>
          <a:ln w="9525">
            <a:solidFill>
              <a:srgbClr val="C44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1663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44A30"/>
                </a:solidFill>
                <a:latin typeface="思源宋体"/>
                <a:ea typeface="思源宋体"/>
              </a:rPr>
              <a:t>弟弟→兄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5166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3B25A"/>
                </a:solidFill>
                <a:latin typeface="JetBrains Mono"/>
                <a:ea typeface="JetBrains Mono"/>
              </a:rPr>
              <a:t>镜号 45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5074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3B25A"/>
                </a:solidFill>
                <a:latin typeface="思源宋体"/>
                <a:ea typeface="思源宋体"/>
              </a:rPr>
              <a:t>「哥，没有你这盏灯，我哪能坚持学业，这里都参着你的补贴呢。」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406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3B25A"/>
                </a:solidFill>
                <a:latin typeface="思源宋体"/>
                <a:ea typeface="思源宋体"/>
              </a:rPr>
              <a:t>★ 两双手按在同一方印上 —— 二重唱成立的瞬间。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0"/>
            <a:ext cx="7315017" cy="254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28655" y="228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JetBrains Mono"/>
                <a:ea typeface="JetBrains Mono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E3B25A"/>
                </a:solidFill>
                <a:latin typeface="思源宋体"/>
                <a:ea typeface="思源宋体"/>
              </a:rPr>
              <a:t>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4ECDC"/>
                </a:solidFill>
                <a:latin typeface="思源宋体"/>
                <a:ea typeface="思源宋体"/>
              </a:rPr>
              <a:t>主 旨 升 华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770"/>
                </a:solidFill>
                <a:latin typeface="Cormorant Garamond"/>
                <a:ea typeface="Cormorant Garamond"/>
              </a:rPr>
              <a:t>  /  THE EPIPHANY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601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5AB96"/>
                </a:solidFill>
                <a:latin typeface="思源宋体"/>
                <a:ea typeface="思源宋体"/>
              </a:rPr>
              <a:t>哥  =  歌  =  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0" b="1" i="0">
                <a:solidFill>
                  <a:srgbClr val="F4ECDC"/>
                </a:solidFill>
                <a:latin typeface="思源宋体"/>
                <a:ea typeface="思源宋体"/>
              </a:rPr>
              <a:t>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2560320" cy="150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0" y="1737360"/>
            <a:ext cx="1005840" cy="1005840"/>
          </a:xfrm>
          <a:prstGeom prst="rect">
            <a:avLst/>
          </a:prstGeom>
          <a:solidFill>
            <a:srgbClr val="9A3A2A"/>
          </a:solidFill>
          <a:ln w="19050">
            <a:solidFill>
              <a:srgbClr val="F4E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73736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4ECDC"/>
                </a:solidFill>
                <a:latin typeface="思源宋体"/>
                <a:ea typeface="思源宋体"/>
              </a:rPr>
              <a:t>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0116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3B25A"/>
                </a:solidFill>
                <a:latin typeface="思源宋体"/>
                <a:ea typeface="思源宋体"/>
              </a:rPr>
              <a:t>通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80560" y="2194560"/>
            <a:ext cx="640080" cy="164592"/>
          </a:xfrm>
          <a:prstGeom prst="rightArrow">
            <a:avLst/>
          </a:prstGeom>
          <a:solidFill>
            <a:srgbClr val="C08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28016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0" b="1" i="0">
                <a:solidFill>
                  <a:srgbClr val="E3B25A"/>
                </a:solidFill>
                <a:latin typeface="思源宋体"/>
                <a:ea typeface="思源宋体"/>
              </a:rPr>
              <a:t>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788920"/>
            <a:ext cx="2560320" cy="150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古 字 相 通  ·  字 源 之 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371600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08A3E"/>
                </a:solidFill>
                <a:latin typeface="思源宋体"/>
                <a:ea typeface="思源宋体"/>
              </a:rPr>
              <a:t>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41732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4ECDC"/>
                </a:solidFill>
                <a:latin typeface="思源宋体"/>
                <a:ea typeface="思源宋体"/>
              </a:rPr>
              <a:t>「哥」通「歌」 —— 窑火如歌，是声音，是节奏，是无数次的开与合。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057400"/>
            <a:ext cx="4206240" cy="6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148840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08A3E"/>
                </a:solidFill>
                <a:latin typeface="思源宋体"/>
                <a:ea typeface="思源宋体"/>
              </a:rPr>
              <a:t>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9456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4ECDC"/>
                </a:solidFill>
                <a:latin typeface="思源宋体"/>
                <a:ea typeface="思源宋体"/>
              </a:rPr>
              <a:t>「哥」亦为「兄」 —— 兄弟如线，一根拉直，便成釉面上的金丝铁线。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2834640"/>
            <a:ext cx="4206240" cy="6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926080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C08A3E"/>
                </a:solidFill>
                <a:latin typeface="思源宋体"/>
                <a:ea typeface="思源宋体"/>
              </a:rPr>
              <a:t>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7180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4ECDC"/>
                </a:solidFill>
                <a:latin typeface="思源宋体"/>
                <a:ea typeface="思源宋体"/>
              </a:rPr>
              <a:t>真正的传承，从来不是一个人的独唱 —— 而是两双手按在同一方印上、两个背影在时光中重叠的二重唱。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023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B25A"/>
                </a:solidFill>
                <a:latin typeface="思源宋体"/>
                <a:ea typeface="思源宋体"/>
              </a:rPr>
              <a:t>概 念 阶 梯  ·  意 象 升 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519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A6770"/>
                </a:solidFill>
                <a:latin typeface="Cormorant Garamond"/>
                <a:ea typeface="Cormorant Garamond"/>
              </a:rPr>
              <a:t>THE  HIERARCHY  OF  INHERITANCE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7047" y="5743560"/>
            <a:ext cx="3657600" cy="365760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67047" y="5743560"/>
            <a:ext cx="3657600" cy="200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7047" y="5743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ECDC"/>
                </a:solidFill>
                <a:latin typeface="思源宋体"/>
                <a:ea typeface="思源宋体"/>
              </a:rPr>
              <a:t>传  ·  承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E3B25A"/>
                </a:solidFill>
                <a:latin typeface="Cormorant Garamond"/>
                <a:ea typeface="Cormorant Garamond"/>
              </a:rPr>
              <a:t>INHERITANCE  ·  哥窑之精神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61207" y="5337800"/>
            <a:ext cx="5669280" cy="365760"/>
          </a:xfrm>
          <a:prstGeom prst="rect">
            <a:avLst/>
          </a:prstGeom>
          <a:solidFill>
            <a:srgbClr val="15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61207" y="5337800"/>
            <a:ext cx="5669280" cy="200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1207" y="5337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ECDC"/>
                </a:solidFill>
                <a:latin typeface="思源宋体"/>
                <a:ea typeface="思源宋体"/>
              </a:rPr>
              <a:t>哥 = 歌 = 兄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E3B25A"/>
                </a:solidFill>
                <a:latin typeface="Cormorant Garamond"/>
                <a:ea typeface="Cormorant Garamond"/>
              </a:rPr>
              <a:t>TRIUNITY  ·  三位一体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5367" y="4932040"/>
            <a:ext cx="7680960" cy="365760"/>
          </a:xfrm>
          <a:prstGeom prst="rect">
            <a:avLst/>
          </a:prstGeom>
          <a:solidFill>
            <a:srgbClr val="15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55367" y="4932040"/>
            <a:ext cx="7680960" cy="200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55367" y="493204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ECDC"/>
                </a:solidFill>
                <a:latin typeface="思源宋体"/>
                <a:ea typeface="思源宋体"/>
              </a:rPr>
              <a:t>持 守  ×  开 创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E3B25A"/>
                </a:solidFill>
                <a:latin typeface="Cormorant Garamond"/>
                <a:ea typeface="Cormorant Garamond"/>
              </a:rPr>
              <a:t>THE  DUET  ·  二重唱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23847" y="4526280"/>
            <a:ext cx="9144000" cy="365760"/>
          </a:xfrm>
          <a:prstGeom prst="rect">
            <a:avLst/>
          </a:prstGeom>
          <a:solidFill>
            <a:srgbClr val="1D1A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3847" y="4526280"/>
            <a:ext cx="9144000" cy="200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523847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ECDC"/>
                </a:solidFill>
                <a:latin typeface="思源宋体"/>
                <a:ea typeface="思源宋体"/>
              </a:rPr>
              <a:t>兄 弟 二 人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E3B25A"/>
                </a:solidFill>
                <a:latin typeface="Cormorant Garamond"/>
                <a:ea typeface="Cormorant Garamond"/>
              </a:rPr>
              <a:t>THE  BROTHERS  ·  具象的人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6400800"/>
            <a:ext cx="20000" cy="1828800"/>
          </a:xfrm>
          <a:prstGeom prst="rect">
            <a:avLst/>
          </a:prstGeom>
          <a:solidFill>
            <a:srgbClr val="E3B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722376" y="4526280"/>
            <a:ext cx="155448" cy="182880"/>
          </a:xfrm>
          <a:prstGeom prst="upArrow">
            <a:avLst/>
          </a:prstGeom>
          <a:solidFill>
            <a:srgbClr val="E3B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5394960"/>
            <a:ext cx="5486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B25A"/>
                </a:solidFill>
                <a:latin typeface="思源宋体"/>
                <a:ea typeface="思源宋体"/>
              </a:rPr>
              <a:t>升
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53035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770"/>
                </a:solidFill>
                <a:latin typeface="思源宋体"/>
                <a:ea typeface="思源宋体"/>
              </a:rPr>
              <a:t>从
具
象
到
本
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74375" y="6400800"/>
            <a:ext cx="777240" cy="365760"/>
          </a:xfrm>
          <a:prstGeom prst="rect">
            <a:avLst/>
          </a:prstGeom>
          <a:solidFill>
            <a:srgbClr val="9A3A2A"/>
          </a:solidFill>
          <a:ln w="9525">
            <a:solidFill>
              <a:srgbClr val="F4E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74375" y="640080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ECDC"/>
                </a:solidFill>
                <a:latin typeface="思源宋体"/>
                <a:ea typeface="思源宋体"/>
              </a:rPr>
              <a:t>章  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0"/>
            <a:ext cx="9753356" cy="254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28655" y="228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JetBrains Mono"/>
                <a:ea typeface="JetBrains Mono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D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38247" y="1143000"/>
            <a:ext cx="7315200" cy="7315200"/>
          </a:xfrm>
          <a:prstGeom prst="ellipse">
            <a:avLst/>
          </a:prstGeom>
          <a:solidFill>
            <a:srgbClr val="E3B25A">
              <a:alpha val="25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352647" y="2057400"/>
            <a:ext cx="5486400" cy="5486400"/>
          </a:xfrm>
          <a:prstGeom prst="ellipse">
            <a:avLst/>
          </a:prstGeom>
          <a:solidFill>
            <a:srgbClr val="7FAEA1">
              <a:alpha val="2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7315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3B25A"/>
                </a:solidFill>
                <a:latin typeface="Cormorant Garamond"/>
                <a:ea typeface="Cormorant Garamond"/>
              </a:rPr>
              <a:t>EPILOGUE   /   鸣 谢 与 指 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63040"/>
            <a:ext cx="944849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F4ECDC"/>
                </a:solidFill>
                <a:latin typeface="思源宋体"/>
                <a:ea typeface="思源宋体"/>
              </a:rPr>
              <a:t>「  窑火不灭，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600" b="0" i="0">
                <a:solidFill>
                  <a:srgbClr val="F4ECDC"/>
                </a:solidFill>
                <a:latin typeface="思源宋体"/>
                <a:ea typeface="思源宋体"/>
              </a:rPr>
              <a:t>    兄弟如线。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600" b="0" i="0">
                <a:solidFill>
                  <a:srgbClr val="E3B25A"/>
                </a:solidFill>
                <a:latin typeface="思源宋体"/>
                <a:ea typeface="思源宋体"/>
              </a:rPr>
              <a:t>    一片瓷，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3600" b="0" i="0">
                <a:solidFill>
                  <a:srgbClr val="E3B25A"/>
                </a:solidFill>
                <a:latin typeface="思源宋体"/>
                <a:ea typeface="思源宋体"/>
              </a:rPr>
              <a:t>    便是一首歌的余韵。  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0392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5029200"/>
            <a:ext cx="8503920" cy="8000"/>
          </a:xfrm>
          <a:prstGeom prst="rect">
            <a:avLst/>
          </a:prstGeom>
          <a:solidFill>
            <a:srgbClr val="3A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434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770"/>
                </a:solidFill>
                <a:latin typeface="Cormorant Garamond"/>
                <a:ea typeface="Cormorant Garamond"/>
              </a:rPr>
              <a:t>人 物 设 定 · 修 正 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709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ECDC"/>
                </a:solidFill>
                <a:latin typeface="思源宋体"/>
                <a:ea typeface="思源宋体"/>
              </a:rPr>
              <a:t>哥哥 = 张 寄   ·   弟弟 = 张 志 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434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A6770"/>
                </a:solidFill>
                <a:latin typeface="Cormorant Garamond"/>
                <a:ea typeface="Cormorant Garamond"/>
              </a:rPr>
              <a:t>核 心 主 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709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ECDC"/>
                </a:solidFill>
                <a:latin typeface="思源宋体"/>
                <a:ea typeface="思源宋体"/>
              </a:rPr>
              <a:t>哥 = 歌 = 兄   ·   持守 × 开创 的完美和弦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08A3E"/>
                </a:solidFill>
                <a:latin typeface="思源宋体"/>
                <a:ea typeface="思源宋体"/>
              </a:rPr>
              <a:t>——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4ECDC"/>
                </a:solidFill>
                <a:latin typeface="思源宋体"/>
                <a:ea typeface="思源宋体"/>
              </a:rPr>
              <a:t>非常感谢您的指正 —— 这是至关重要的细节。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08076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770"/>
                </a:solidFill>
                <a:latin typeface="思源宋体"/>
                <a:ea typeface="思源宋体"/>
              </a:rPr>
              <a:t>文 末 谨 记  ·  修 订 印 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08A3E"/>
                </a:solidFill>
                <a:latin typeface="思源宋体"/>
                <a:ea typeface="思源宋体"/>
              </a:rPr>
              <a:t>——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28655" y="2286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3B25A"/>
                </a:solidFill>
                <a:latin typeface="JetBrains Mono"/>
                <a:ea typeface="JetBrains Mono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