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81047" y="685800"/>
            <a:ext cx="8229600" cy="8229600"/>
          </a:xfrm>
          <a:prstGeom prst="ellipse">
            <a:avLst/>
          </a:prstGeom>
          <a:solidFill>
            <a:srgbClr val="E3B25A">
              <a:alpha val="1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1691640"/>
            <a:ext cx="6217920" cy="6217920"/>
          </a:xfrm>
          <a:prstGeom prst="ellipse">
            <a:avLst/>
          </a:prstGeom>
          <a:solidFill>
            <a:srgbClr val="C44A30">
              <a:alpha val="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01287" y="2606040"/>
            <a:ext cx="4389120" cy="4389120"/>
          </a:xfrm>
          <a:prstGeom prst="ellipse">
            <a:avLst/>
          </a:prstGeom>
          <a:solidFill>
            <a:srgbClr val="9A3A2A">
              <a:alpha val="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000" cy="59436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6495" y="457200"/>
            <a:ext cx="8000" cy="59436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主 旨 解 读 · 第 一 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731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770"/>
                </a:solidFill>
                <a:latin typeface="Cormorant Garamond"/>
                <a:ea typeface="Cormorant Garamond"/>
              </a:rPr>
              <a:t>GE · SONG · KILN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0" b="1" i="0">
                <a:solidFill>
                  <a:srgbClr val="F4ECDC"/>
                </a:solidFill>
                <a:latin typeface="思源宋体"/>
                <a:ea typeface="思源宋体"/>
              </a:rPr>
              <a:t>哥</a:t>
            </a:r>
          </a:p>
          <a:p>
            <a:pPr algn="ctr">
              <a:spcBef>
                <a:spcPts val="2000"/>
              </a:spcBef>
              <a:spcAft>
                <a:spcPts val="0"/>
              </a:spcAft>
            </a:pPr>
            <a:r>
              <a:rPr sz="12000" b="1" i="0">
                <a:solidFill>
                  <a:srgbClr val="E3B25A"/>
                </a:solidFill>
                <a:latin typeface="思源宋体"/>
                <a:ea typeface="思源宋体"/>
              </a:rPr>
              <a:t>·  歌  ·</a:t>
            </a:r>
          </a:p>
          <a:p>
            <a:pPr algn="ctr">
              <a:spcBef>
                <a:spcPts val="2000"/>
              </a:spcBef>
              <a:spcAft>
                <a:spcPts val="0"/>
              </a:spcAft>
            </a:pPr>
            <a:r>
              <a:rPr sz="22000" b="1" i="0">
                <a:solidFill>
                  <a:srgbClr val="F4ECDC"/>
                </a:solidFill>
                <a:latin typeface="思源宋体"/>
                <a:ea typeface="思源宋体"/>
              </a:rPr>
              <a:t>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770"/>
                </a:solidFill>
                <a:latin typeface="Cormorant Garamond"/>
                <a:ea typeface="Cormorant Garamond"/>
              </a:rPr>
              <a:t>GE  ·  SONG  ·  KILN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ECDC"/>
                </a:solidFill>
                <a:latin typeface="思源宋体"/>
                <a:ea typeface="思源宋体"/>
              </a:rPr>
              <a:t>哥窑之「哥」，非长幼之序，乃「歌」之古字 —— 窑火如歌，兄弟如线。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28655" y="1188720"/>
            <a:ext cx="914400" cy="914400"/>
          </a:xfrm>
          <a:prstGeom prst="rect">
            <a:avLst/>
          </a:prstGeom>
          <a:solidFill>
            <a:srgbClr val="9A3A2A"/>
          </a:solidFill>
          <a:ln w="12700">
            <a:solidFill>
              <a:srgbClr val="F4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28655" y="11887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4ECDC"/>
                </a:solidFill>
                <a:latin typeface="思源宋体"/>
                <a:ea typeface="思源宋体"/>
              </a:rPr>
              <a:t>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3B25A"/>
                </a:solidFill>
                <a:latin typeface="思源宋体"/>
                <a:ea typeface="思源宋体"/>
              </a:rPr>
              <a:t>修 正 版  ·  哥 哥 = 张  寄   ·   弟 弟 = 张  志  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438339" cy="254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228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JetBrains Mono"/>
                <a:ea typeface="JetBrains Mono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E3B25A"/>
                </a:solidFill>
                <a:latin typeface="思源宋体"/>
                <a:ea typeface="思源宋体"/>
              </a:rPr>
              <a:t>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ECDC"/>
                </a:solidFill>
                <a:latin typeface="思源宋体"/>
                <a:ea typeface="思源宋体"/>
              </a:rPr>
              <a:t>总   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770"/>
                </a:solidFill>
                <a:latin typeface="Cormorant Garamond"/>
                <a:ea typeface="Cormorant Garamond"/>
              </a:rPr>
              <a:t>  /  THE 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AB96"/>
                </a:solidFill>
                <a:latin typeface="思源宋体"/>
                <a:ea typeface="思源宋体"/>
              </a:rPr>
              <a:t>核心主旨不变 · 人物标签互换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solidFill>
            <a:srgbClr val="15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0000" cy="777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3B25A"/>
                </a:solidFill>
                <a:latin typeface="Cormorant Garamond"/>
                <a:ea typeface="Cormorant Garamond"/>
              </a:rPr>
              <a:t>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2763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4ECDC"/>
                </a:solidFill>
                <a:latin typeface="思源宋体"/>
                <a:ea typeface="思源宋体"/>
              </a:rPr>
              <a:t>《哥窑》是关于「传承」的视觉史诗。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4937760" cy="3383280"/>
          </a:xfrm>
          <a:prstGeom prst="rect">
            <a:avLst/>
          </a:prstGeom>
          <a:solidFill>
            <a:srgbClr val="15130F"/>
          </a:solidFill>
          <a:ln w="9525">
            <a:solidFill>
              <a:srgbClr val="3A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4937760" cy="20000"/>
          </a:xfrm>
          <a:prstGeom prst="rect">
            <a:avLst/>
          </a:prstGeom>
          <a:solidFill>
            <a:srgbClr val="7FA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FAEA1"/>
                </a:solidFill>
                <a:latin typeface="思源宋体"/>
                <a:ea typeface="思源宋体"/>
              </a:rPr>
              <a:t>持 灯 者  ·  守 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7FAEA1"/>
                </a:solidFill>
                <a:latin typeface="思源宋体"/>
                <a:ea typeface="思源宋体"/>
              </a:rPr>
              <a:t>哥  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ECDC"/>
                </a:solidFill>
                <a:latin typeface="思源宋体"/>
                <a:ea typeface="思源宋体"/>
              </a:rPr>
              <a:t>张   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63440"/>
            <a:ext cx="3200400" cy="10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D8E82"/>
                </a:solidFill>
                <a:latin typeface="思源宋体"/>
                <a:ea typeface="思源宋体"/>
              </a:rPr>
              <a:t>▸ 理性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规划的锚点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D8E82"/>
                </a:solidFill>
                <a:latin typeface="思源宋体"/>
                <a:ea typeface="思源宋体"/>
              </a:rPr>
              <a:t>▸ 承担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战火中接过嘱托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315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D8E82"/>
                </a:solidFill>
                <a:latin typeface="思源宋体"/>
                <a:ea typeface="思源宋体"/>
              </a:rPr>
              <a:t>▸ 守护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315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火候失控时拉住弟弟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4ECDC"/>
                </a:solidFill>
                <a:latin typeface="思源宋体"/>
                <a:ea typeface="思源宋体"/>
              </a:rPr>
              <a:t>「等！现在开窑，全毁了！」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0"/>
                </a:solidFill>
                <a:latin typeface="JetBrains Mono"/>
                <a:ea typeface="JetBrains Mono"/>
              </a:rPr>
              <a:t>—— 镜号 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971800"/>
            <a:ext cx="10000" cy="265176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2461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思源宋体"/>
                <a:ea typeface="思源宋体"/>
              </a:rPr>
              <a:t>持 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349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思源宋体"/>
                <a:ea typeface="思源宋体"/>
              </a:rPr>
              <a:t>开 创</a:t>
            </a:r>
          </a:p>
        </p:txBody>
      </p:sp>
      <p:sp>
        <p:nvSpPr>
          <p:cNvPr id="27" name="Oval 26"/>
          <p:cNvSpPr/>
          <p:nvPr/>
        </p:nvSpPr>
        <p:spPr>
          <a:xfrm>
            <a:off x="6025896" y="4242816"/>
            <a:ext cx="109728" cy="109728"/>
          </a:xfrm>
          <a:prstGeom prst="ellipse">
            <a:avLst/>
          </a:prstGeom>
          <a:solidFill>
            <a:srgbClr val="E3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606040"/>
            <a:ext cx="4937760" cy="3383280"/>
          </a:xfrm>
          <a:prstGeom prst="rect">
            <a:avLst/>
          </a:prstGeom>
          <a:solidFill>
            <a:srgbClr val="15130F"/>
          </a:solidFill>
          <a:ln w="9525">
            <a:solidFill>
              <a:srgbClr val="3A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2606040"/>
            <a:ext cx="4937760" cy="20000"/>
          </a:xfrm>
          <a:prstGeom prst="rect">
            <a:avLst/>
          </a:prstGeom>
          <a:solidFill>
            <a:srgbClr val="C4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4A30"/>
                </a:solidFill>
                <a:latin typeface="思源宋体"/>
                <a:ea typeface="思源宋体"/>
              </a:rPr>
              <a:t>行 路 人  ·  探 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461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4A30"/>
                </a:solidFill>
                <a:latin typeface="思源宋体"/>
                <a:ea typeface="思源宋体"/>
              </a:rPr>
              <a:t>弟  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06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ECDC"/>
                </a:solidFill>
                <a:latin typeface="思源宋体"/>
                <a:ea typeface="思源宋体"/>
              </a:rPr>
              <a:t>张   志   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63440"/>
            <a:ext cx="3200400" cy="10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4A30"/>
                </a:solidFill>
                <a:latin typeface="思源宋体"/>
                <a:ea typeface="思源宋体"/>
              </a:rPr>
              <a:t>▸ 感性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能听见「土在唱歌」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138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4A30"/>
                </a:solidFill>
                <a:latin typeface="思源宋体"/>
                <a:ea typeface="思源宋体"/>
              </a:rPr>
              <a:t>▸ 天赋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38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紫金土的发现者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4315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4A30"/>
                </a:solidFill>
                <a:latin typeface="思源宋体"/>
                <a:ea typeface="思源宋体"/>
              </a:rPr>
              <a:t>▸ 开创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4315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5AB96"/>
                </a:solidFill>
                <a:latin typeface="思源宋体"/>
                <a:ea typeface="思源宋体"/>
              </a:rPr>
              <a:t>· 金丝铁线的引线人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669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4ECDC"/>
                </a:solidFill>
                <a:latin typeface="思源宋体"/>
                <a:ea typeface="思源宋体"/>
              </a:rPr>
              <a:t>「哥，这土……在唱歌。」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8521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770"/>
                </a:solidFill>
                <a:latin typeface="JetBrains Mono"/>
                <a:ea typeface="JetBrains Mono"/>
              </a:rPr>
              <a:t>—— 镜号 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B5AB96"/>
                </a:solidFill>
                <a:latin typeface="思源宋体"/>
                <a:ea typeface="思源宋体"/>
              </a:rPr>
              <a:t>哥哥，是「歌」的定音鼓；弟弟，是「歌」的延长线。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172200"/>
            <a:ext cx="10972800" cy="10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876678" cy="254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28655" y="228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JetBrains Mono"/>
                <a:ea typeface="JetBrains Mono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E3B25A"/>
                </a:solidFill>
                <a:latin typeface="思源宋体"/>
                <a:ea typeface="思源宋体"/>
              </a:rPr>
              <a:t>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ECDC"/>
                </a:solidFill>
                <a:latin typeface="思源宋体"/>
                <a:ea typeface="思源宋体"/>
              </a:rPr>
              <a:t>证   据   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770"/>
                </a:solidFill>
                <a:latin typeface="Cormorant Garamond"/>
                <a:ea typeface="Cormorant Garamond"/>
              </a:rPr>
              <a:t>  /  FROM THE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AB96"/>
                </a:solidFill>
                <a:latin typeface="思源宋体"/>
                <a:ea typeface="思源宋体"/>
              </a:rPr>
              <a:t>五处镜号 · 两重性格的彼此成就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69440"/>
            <a:ext cx="10972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7FA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FAEA1"/>
                </a:solidFill>
                <a:latin typeface="思源宋体"/>
                <a:ea typeface="思源宋体"/>
              </a:rPr>
              <a:t>哥哥·持守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91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ECDC"/>
                </a:solidFill>
                <a:latin typeface="思源宋体"/>
                <a:ea typeface="思源宋体"/>
              </a:rPr>
              <a:t>「往南走，找能烧窑的土地，不能丢。手艺不能断。志元，看好你弟弟。」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战乱中接过嘱托，以兄长之名承担全族手艺。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38120"/>
            <a:ext cx="10972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C4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4A30"/>
                </a:solidFill>
                <a:latin typeface="思源宋体"/>
                <a:ea typeface="思源宋体"/>
              </a:rPr>
              <a:t>弟弟·开创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ECDC"/>
                </a:solidFill>
                <a:latin typeface="思源宋体"/>
                <a:ea typeface="思源宋体"/>
              </a:rPr>
              <a:t>「哥，这土……在唱歌。」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34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紫金土的发现者 —— 天赋的感性回响。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6800"/>
            <a:ext cx="10972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7FA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FAEA1"/>
                </a:solidFill>
                <a:latin typeface="思源宋体"/>
                <a:ea typeface="思源宋体"/>
              </a:rPr>
              <a:t>哥哥·持守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429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37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ECDC"/>
                </a:solidFill>
                <a:latin typeface="思源宋体"/>
                <a:ea typeface="思源宋体"/>
              </a:rPr>
              <a:t>「那就这儿了。」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703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以理性肯定弟弟的发现 —— 是节拍，亦是锚。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75480"/>
            <a:ext cx="10972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C4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4A30"/>
                </a:solidFill>
                <a:latin typeface="思源宋体"/>
                <a:ea typeface="思源宋体"/>
              </a:rPr>
              <a:t>弟弟·开创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297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206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ECDC"/>
                </a:solidFill>
                <a:latin typeface="思源宋体"/>
                <a:ea typeface="思源宋体"/>
              </a:rPr>
              <a:t>「哥……成了。」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金丝铁线开片，釉色如冰裂，释然之泪。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44160"/>
            <a:ext cx="10972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16636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C4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4A30"/>
                </a:solidFill>
                <a:latin typeface="思源宋体"/>
                <a:ea typeface="思源宋体"/>
              </a:rPr>
              <a:t>弟弟→兄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074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4ECDC"/>
                </a:solidFill>
                <a:latin typeface="思源宋体"/>
                <a:ea typeface="思源宋体"/>
              </a:rPr>
              <a:t>「哥，没有你这盏灯，我哪能坚持学业，这里都参着你的补贴呢。」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440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两双手按在同一方印上 —— 二重唱成立的瞬间。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983480"/>
            <a:ext cx="10972800" cy="868680"/>
          </a:xfrm>
          <a:prstGeom prst="rect">
            <a:avLst/>
          </a:prstGeom>
          <a:solidFill>
            <a:srgbClr val="1D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983480"/>
            <a:ext cx="60000" cy="86868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5166360"/>
            <a:ext cx="1280160" cy="411480"/>
          </a:xfrm>
          <a:prstGeom prst="rect">
            <a:avLst/>
          </a:prstGeom>
          <a:solidFill>
            <a:srgbClr val="0E0D0B"/>
          </a:solidFill>
          <a:ln w="9525">
            <a:solidFill>
              <a:srgbClr val="C44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4A30"/>
                </a:solidFill>
                <a:latin typeface="思源宋体"/>
                <a:ea typeface="思源宋体"/>
              </a:rPr>
              <a:t>弟弟→兄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B25A"/>
                </a:solidFill>
                <a:latin typeface="JetBrains Mono"/>
                <a:ea typeface="JetBrains Mono"/>
              </a:rPr>
              <a:t>镜号 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74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3B25A"/>
                </a:solidFill>
                <a:latin typeface="思源宋体"/>
                <a:ea typeface="思源宋体"/>
              </a:rPr>
              <a:t>「哥，没有你这盏灯，我哪能坚持学业，这里都参着你的补贴呢。」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440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3B25A"/>
                </a:solidFill>
                <a:latin typeface="思源宋体"/>
                <a:ea typeface="思源宋体"/>
              </a:rPr>
              <a:t>★ 两双手按在同一方印上 —— 二重唱成立的瞬间。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7315017" cy="254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28655" y="228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JetBrains Mono"/>
                <a:ea typeface="JetBrains Mono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E3B25A"/>
                </a:solidFill>
                <a:latin typeface="思源宋体"/>
                <a:ea typeface="思源宋体"/>
              </a:rPr>
              <a:t>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ECDC"/>
                </a:solidFill>
                <a:latin typeface="思源宋体"/>
                <a:ea typeface="思源宋体"/>
              </a:rPr>
              <a:t>主 旨 升 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770"/>
                </a:solidFill>
                <a:latin typeface="Cormorant Garamond"/>
                <a:ea typeface="Cormorant Garamond"/>
              </a:rPr>
              <a:t>  /  THE EPIPHANY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5AB96"/>
                </a:solidFill>
                <a:latin typeface="思源宋体"/>
                <a:ea typeface="思源宋体"/>
              </a:rPr>
              <a:t>哥  =  歌  =  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9456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0" b="1" i="0">
                <a:solidFill>
                  <a:srgbClr val="F4ECDC"/>
                </a:solidFill>
                <a:latin typeface="思源宋体"/>
                <a:ea typeface="思源宋体"/>
              </a:rPr>
              <a:t>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2560320" cy="150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2743200"/>
            <a:ext cx="1097280" cy="1097280"/>
          </a:xfrm>
          <a:prstGeom prst="rect">
            <a:avLst/>
          </a:prstGeom>
          <a:solidFill>
            <a:srgbClr val="9A3A2A"/>
          </a:solidFill>
          <a:ln w="19050">
            <a:solidFill>
              <a:srgbClr val="F4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743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4ECDC"/>
                </a:solidFill>
                <a:latin typeface="思源宋体"/>
                <a:ea typeface="思源宋体"/>
              </a:rPr>
              <a:t>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3B25A"/>
                </a:solidFill>
                <a:latin typeface="思源宋体"/>
                <a:ea typeface="思源宋体"/>
              </a:rPr>
              <a:t>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0" y="3246120"/>
            <a:ext cx="731520" cy="182880"/>
          </a:xfrm>
          <a:prstGeom prst="rightArrow">
            <a:avLst/>
          </a:prstGeom>
          <a:solidFill>
            <a:srgbClr val="C0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828800"/>
            <a:ext cx="219456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0" b="1" i="0">
                <a:solidFill>
                  <a:srgbClr val="E3B25A"/>
                </a:solidFill>
                <a:latin typeface="思源宋体"/>
                <a:ea typeface="思源宋体"/>
              </a:rPr>
              <a:t>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931920"/>
            <a:ext cx="2560320" cy="150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古 字 相 通  ·  字 源 之 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08A3E"/>
                </a:solidFill>
                <a:latin typeface="思源宋体"/>
                <a:ea typeface="思源宋体"/>
              </a:rPr>
              <a:t>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87452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ECDC"/>
                </a:solidFill>
                <a:latin typeface="思源宋体"/>
                <a:ea typeface="思源宋体"/>
              </a:rPr>
              <a:t>「哥」通「歌」 —— 窑火如歌，是声音，是节奏，是无数次的开与合。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26080"/>
            <a:ext cx="4114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1089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08A3E"/>
                </a:solidFill>
                <a:latin typeface="思源宋体"/>
                <a:ea typeface="思源宋体"/>
              </a:rPr>
              <a:t>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5468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ECDC"/>
                </a:solidFill>
                <a:latin typeface="思源宋体"/>
                <a:ea typeface="思源宋体"/>
              </a:rPr>
              <a:t>「哥」亦为「兄」 —— 兄弟如线，一根拉直，便成釉面上的金丝铁线。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206240"/>
            <a:ext cx="411480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389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08A3E"/>
                </a:solidFill>
                <a:latin typeface="思源宋体"/>
                <a:ea typeface="思源宋体"/>
              </a:rPr>
              <a:t>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348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ECDC"/>
                </a:solidFill>
                <a:latin typeface="思源宋体"/>
                <a:ea typeface="思源宋体"/>
              </a:rPr>
              <a:t>真正的传承，从来不是一个人的独唱 —— 而是两双手按在同一方印上、两个背影在时光中重叠的二重唱。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28655" y="5394960"/>
            <a:ext cx="914400" cy="914400"/>
          </a:xfrm>
          <a:prstGeom prst="rect">
            <a:avLst/>
          </a:prstGeom>
          <a:solidFill>
            <a:srgbClr val="9A3A2A"/>
          </a:solidFill>
          <a:ln w="12700">
            <a:solidFill>
              <a:srgbClr val="F4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5394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ECDC"/>
                </a:solidFill>
                <a:latin typeface="思源宋体"/>
                <a:ea typeface="思源宋体"/>
              </a:rPr>
              <a:t>龙
泉
章
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753356" cy="254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8655" y="228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JetBrains Mono"/>
                <a:ea typeface="JetBrains Mono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38247" y="1143000"/>
            <a:ext cx="7315200" cy="7315200"/>
          </a:xfrm>
          <a:prstGeom prst="ellipse">
            <a:avLst/>
          </a:prstGeom>
          <a:solidFill>
            <a:srgbClr val="E3B25A">
              <a:alpha val="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52647" y="2057400"/>
            <a:ext cx="5486400" cy="5486400"/>
          </a:xfrm>
          <a:prstGeom prst="ellipse">
            <a:avLst/>
          </a:prstGeom>
          <a:solidFill>
            <a:srgbClr val="7FAEA1">
              <a:alpha val="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3B25A"/>
                </a:solidFill>
                <a:latin typeface="Cormorant Garamond"/>
                <a:ea typeface="Cormorant Garamond"/>
              </a:rPr>
              <a:t>EPILOGUE   /   鸣 谢 与 指 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84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4ECDC"/>
                </a:solidFill>
                <a:latin typeface="思源宋体"/>
                <a:ea typeface="思源宋体"/>
              </a:rPr>
              <a:t>「  窑火不灭，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600" b="0" i="0">
                <a:solidFill>
                  <a:srgbClr val="F4ECDC"/>
                </a:solidFill>
                <a:latin typeface="思源宋体"/>
                <a:ea typeface="思源宋体"/>
              </a:rPr>
              <a:t>    兄弟如线。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600" b="0" i="0">
                <a:solidFill>
                  <a:srgbClr val="E3B25A"/>
                </a:solidFill>
                <a:latin typeface="思源宋体"/>
                <a:ea typeface="思源宋体"/>
              </a:rPr>
              <a:t>    一片瓷，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3600" b="0" i="0">
                <a:solidFill>
                  <a:srgbClr val="E3B25A"/>
                </a:solidFill>
                <a:latin typeface="思源宋体"/>
                <a:ea typeface="思源宋体"/>
              </a:rPr>
              <a:t>    便是一首歌的余韵。  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297680"/>
            <a:ext cx="850392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5029200"/>
            <a:ext cx="8503920" cy="8000"/>
          </a:xfrm>
          <a:prstGeom prst="rect">
            <a:avLst/>
          </a:prstGeom>
          <a:solidFill>
            <a:srgbClr val="3A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770"/>
                </a:solidFill>
                <a:latin typeface="Cormorant Garamond"/>
                <a:ea typeface="Cormorant Garamond"/>
              </a:rPr>
              <a:t>人 物 设 定 · 修 正 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09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ECDC"/>
                </a:solidFill>
                <a:latin typeface="思源宋体"/>
                <a:ea typeface="思源宋体"/>
              </a:rPr>
              <a:t>哥哥 = 张 寄   ·   弟弟 = 张 志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770"/>
                </a:solidFill>
                <a:latin typeface="Cormorant Garamond"/>
                <a:ea typeface="Cormorant Garamond"/>
              </a:rPr>
              <a:t>核 心 主 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709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ECDC"/>
                </a:solidFill>
                <a:latin typeface="思源宋体"/>
                <a:ea typeface="思源宋体"/>
              </a:rPr>
              <a:t>哥 = 歌 = 兄   ·   持守 × 开创 的完美和弦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08A3E"/>
                </a:solidFill>
                <a:latin typeface="思源宋体"/>
                <a:ea typeface="思源宋体"/>
              </a:rPr>
              <a:t>——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4ECDC"/>
                </a:solidFill>
                <a:latin typeface="思源宋体"/>
                <a:ea typeface="思源宋体"/>
              </a:rPr>
              <a:t>非常感谢您的指正 —— 这是至关重要的细节。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0807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770"/>
                </a:solidFill>
                <a:latin typeface="思源宋体"/>
                <a:ea typeface="思源宋体"/>
              </a:rPr>
              <a:t>文 末 谨 记  ·  修 订 印 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08A3E"/>
                </a:solidFill>
                <a:latin typeface="思源宋体"/>
                <a:ea typeface="思源宋体"/>
              </a:rPr>
              <a:t>——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28655" y="228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3B25A"/>
                </a:solidFill>
                <a:latin typeface="JetBrains Mono"/>
                <a:ea typeface="JetBrains Mono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